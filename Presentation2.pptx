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4" r:id="rId9"/>
    <p:sldId id="265" r:id="rId10"/>
    <p:sldId id="263"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DFE"/>
    <a:srgbClr val="FCFC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9A570F-6661-48AF-A0F5-5221D1E8E37B}" type="datetimeFigureOut">
              <a:rPr lang="en-IN" smtClean="0"/>
              <a:t>06-08-2026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FF9EA6-157A-4811-8041-0ACB3C0E073B}" type="slidenum">
              <a:rPr lang="en-IN" smtClean="0"/>
              <a:t>‹#›</a:t>
            </a:fld>
            <a:endParaRPr lang="en-IN"/>
          </a:p>
        </p:txBody>
      </p:sp>
    </p:spTree>
    <p:extLst>
      <p:ext uri="{BB962C8B-B14F-4D97-AF65-F5344CB8AC3E}">
        <p14:creationId xmlns:p14="http://schemas.microsoft.com/office/powerpoint/2010/main" val="856890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FF9EA6-157A-4811-8041-0ACB3C0E073B}" type="slidenum">
              <a:rPr lang="en-IN" smtClean="0"/>
              <a:t>4</a:t>
            </a:fld>
            <a:endParaRPr lang="en-IN"/>
          </a:p>
        </p:txBody>
      </p:sp>
    </p:spTree>
    <p:extLst>
      <p:ext uri="{BB962C8B-B14F-4D97-AF65-F5344CB8AC3E}">
        <p14:creationId xmlns:p14="http://schemas.microsoft.com/office/powerpoint/2010/main" val="3074293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02810-6243-B64E-D9E8-82C67B2802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3D9FB6-8FCD-2E90-D524-586AD3D4ED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29EDD6-7EA0-D061-8A36-634C56680355}"/>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5" name="Footer Placeholder 4">
            <a:extLst>
              <a:ext uri="{FF2B5EF4-FFF2-40B4-BE49-F238E27FC236}">
                <a16:creationId xmlns:a16="http://schemas.microsoft.com/office/drawing/2014/main" id="{C3E01933-D22F-7EFF-57A4-5C7D05E105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6F4A95-B710-F6FA-4FDB-556775EC7652}"/>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2403711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D162A-84E3-B3D1-8D21-1F9D9BD143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F40DED-8CE4-A4C8-C474-130F106185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1451DA-3287-6217-8519-7F8AA009A7DC}"/>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5" name="Footer Placeholder 4">
            <a:extLst>
              <a:ext uri="{FF2B5EF4-FFF2-40B4-BE49-F238E27FC236}">
                <a16:creationId xmlns:a16="http://schemas.microsoft.com/office/drawing/2014/main" id="{CD70D732-9901-3A27-E601-0F82C68C32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B3054F-57F0-ECA4-83C1-5E18C9527DED}"/>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2296149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74D36-1CE7-8B4D-3FC5-BDEE38B67F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81E3BD-F581-1DC7-7137-DC61192459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124C0F-1492-4726-21FF-93B5D1C94A09}"/>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5" name="Footer Placeholder 4">
            <a:extLst>
              <a:ext uri="{FF2B5EF4-FFF2-40B4-BE49-F238E27FC236}">
                <a16:creationId xmlns:a16="http://schemas.microsoft.com/office/drawing/2014/main" id="{B1C0F581-7986-3D8A-4966-5B8ECA7DF1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A8A89B-5EA2-EBDF-2A35-BCC7A9863D11}"/>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1639198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243B-66CB-33D3-FF32-48C5D559BC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8D74F3-676F-A71C-30C8-C3DAB1AD2F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9569AA-CA9F-DB8B-92EB-4920E91432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6D24DB-9D4B-A27F-4314-63609973D8B1}"/>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6" name="Footer Placeholder 5">
            <a:extLst>
              <a:ext uri="{FF2B5EF4-FFF2-40B4-BE49-F238E27FC236}">
                <a16:creationId xmlns:a16="http://schemas.microsoft.com/office/drawing/2014/main" id="{8A1395F7-8DBE-1543-5D7A-9A02CDD81E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EC9919-B160-5F28-BB8E-C3E74605733F}"/>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1003065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84991-D428-46DF-A386-3F1A9D2DBE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5BE843-BC3C-E443-0C05-E6FFCD96C3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6691BB-B619-6EF5-3844-3E9F0FE8D7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152E63-59C5-34CF-9C9E-BB9C9EC55C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81D901-E4B3-31CD-6A97-4501854339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35D3DF-A804-ECCA-F011-C9F6F90CD800}"/>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8" name="Footer Placeholder 7">
            <a:extLst>
              <a:ext uri="{FF2B5EF4-FFF2-40B4-BE49-F238E27FC236}">
                <a16:creationId xmlns:a16="http://schemas.microsoft.com/office/drawing/2014/main" id="{8B2B17AF-0E3E-E3BE-C1F8-CDAA847B529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BCDEA7-C705-3EE0-8D98-1AACFF6DE0F7}"/>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3759365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D5456-3933-E01C-866C-403E51BCA6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DF8978A-75A1-085C-29D2-B8510FDB9DAC}"/>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4" name="Footer Placeholder 3">
            <a:extLst>
              <a:ext uri="{FF2B5EF4-FFF2-40B4-BE49-F238E27FC236}">
                <a16:creationId xmlns:a16="http://schemas.microsoft.com/office/drawing/2014/main" id="{E4FBDF2F-855F-B53A-F0D1-87BBE14C46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52C0F3-CEB3-E210-757E-26D28C7D39E9}"/>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3199377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C8647D-D4BB-03FA-6C2E-8E20F405CDAD}"/>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3" name="Footer Placeholder 2">
            <a:extLst>
              <a:ext uri="{FF2B5EF4-FFF2-40B4-BE49-F238E27FC236}">
                <a16:creationId xmlns:a16="http://schemas.microsoft.com/office/drawing/2014/main" id="{5CDF1513-79F9-B67F-B2CC-F3FD3FB39B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5863BEC-5189-1670-D78D-9C8E27EC10B5}"/>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1947201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0FD65-832F-8A8D-7DEF-148974499C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B77825-F3A6-C86D-17C8-FBB219609A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C3FFBD-81A0-5A43-B4E5-A9531B6FB0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B749D1-77BB-5278-0846-D82E2D2E2525}"/>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6" name="Footer Placeholder 5">
            <a:extLst>
              <a:ext uri="{FF2B5EF4-FFF2-40B4-BE49-F238E27FC236}">
                <a16:creationId xmlns:a16="http://schemas.microsoft.com/office/drawing/2014/main" id="{30D08FE4-39FD-3D12-7717-762996368A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E6884-9512-1DF4-9890-E4D3B9EA990E}"/>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2087043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E340-9067-A675-AF1D-BC52B66359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F842D5-6F11-B5A1-77DB-F0172AC317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C48B5D-39CB-0D95-D527-A9A60518DF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716DFC-CD23-6831-BBD5-8FC6821594DD}"/>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6" name="Footer Placeholder 5">
            <a:extLst>
              <a:ext uri="{FF2B5EF4-FFF2-40B4-BE49-F238E27FC236}">
                <a16:creationId xmlns:a16="http://schemas.microsoft.com/office/drawing/2014/main" id="{D98A093F-F621-5C28-E104-637BBD03AF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766DEF-C867-B89D-B452-4B13F4CB5A0C}"/>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2167514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D1A8-8AB4-104B-0517-2B4E376B64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42C082-A87F-82EF-27D7-5F183F89D8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5D4779-A3B7-E345-3514-D107B9FA7ADA}"/>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5" name="Footer Placeholder 4">
            <a:extLst>
              <a:ext uri="{FF2B5EF4-FFF2-40B4-BE49-F238E27FC236}">
                <a16:creationId xmlns:a16="http://schemas.microsoft.com/office/drawing/2014/main" id="{AC0FAD20-25C7-B3CA-D784-751E32C192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175F00-F3D4-82E3-6248-A8A767402B4A}"/>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2607977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3616DF-7E50-D692-38F1-12B08FFFEC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48A0D7-9389-5986-77C7-B42C38171F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CF3377-F22F-7AA3-CA13-3C298F8B3F43}"/>
              </a:ext>
            </a:extLst>
          </p:cNvPr>
          <p:cNvSpPr>
            <a:spLocks noGrp="1"/>
          </p:cNvSpPr>
          <p:nvPr>
            <p:ph type="dt" sz="half" idx="10"/>
          </p:nvPr>
        </p:nvSpPr>
        <p:spPr/>
        <p:txBody>
          <a:bodyPr/>
          <a:lstStyle/>
          <a:p>
            <a:fld id="{124A7F65-1B45-4396-A2B7-0097DFB34537}" type="datetimeFigureOut">
              <a:rPr lang="en-IN" smtClean="0"/>
              <a:t>06-08-2026</a:t>
            </a:fld>
            <a:endParaRPr lang="en-IN"/>
          </a:p>
        </p:txBody>
      </p:sp>
      <p:sp>
        <p:nvSpPr>
          <p:cNvPr id="5" name="Footer Placeholder 4">
            <a:extLst>
              <a:ext uri="{FF2B5EF4-FFF2-40B4-BE49-F238E27FC236}">
                <a16:creationId xmlns:a16="http://schemas.microsoft.com/office/drawing/2014/main" id="{BB7D175E-3525-AED3-C536-49116AF3DD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F272A0-6CBC-D8AE-9AB8-B2C0D2A987F1}"/>
              </a:ext>
            </a:extLst>
          </p:cNvPr>
          <p:cNvSpPr>
            <a:spLocks noGrp="1"/>
          </p:cNvSpPr>
          <p:nvPr>
            <p:ph type="sldNum" sz="quarter" idx="12"/>
          </p:nvPr>
        </p:nvSpPr>
        <p:spPr/>
        <p:txBody>
          <a:bodyPr/>
          <a:lstStyle/>
          <a:p>
            <a:fld id="{D24DEFDD-D5DA-4AEF-941D-EF3AE85AC410}" type="slidenum">
              <a:rPr lang="en-IN" smtClean="0"/>
              <a:t>‹#›</a:t>
            </a:fld>
            <a:endParaRPr lang="en-IN"/>
          </a:p>
        </p:txBody>
      </p:sp>
    </p:spTree>
    <p:extLst>
      <p:ext uri="{BB962C8B-B14F-4D97-AF65-F5344CB8AC3E}">
        <p14:creationId xmlns:p14="http://schemas.microsoft.com/office/powerpoint/2010/main" val="2193304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574CA3-9C53-A6D7-38F9-44CF5A8B68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6E7DB6-B858-CD00-468E-C1D64D2676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14A00C-854C-3282-B96F-C8F4AB3745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4A7F65-1B45-4396-A2B7-0097DFB34537}" type="datetimeFigureOut">
              <a:rPr lang="en-IN" smtClean="0"/>
              <a:t>06-08-2026</a:t>
            </a:fld>
            <a:endParaRPr lang="en-IN"/>
          </a:p>
        </p:txBody>
      </p:sp>
      <p:sp>
        <p:nvSpPr>
          <p:cNvPr id="5" name="Footer Placeholder 4">
            <a:extLst>
              <a:ext uri="{FF2B5EF4-FFF2-40B4-BE49-F238E27FC236}">
                <a16:creationId xmlns:a16="http://schemas.microsoft.com/office/drawing/2014/main" id="{DBDF8BB4-2274-1B56-F8B1-2BF578E32E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25B29B0-9B52-139C-F5C8-39598C400C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4DEFDD-D5DA-4AEF-941D-EF3AE85AC410}" type="slidenum">
              <a:rPr lang="en-IN" smtClean="0"/>
              <a:t>‹#›</a:t>
            </a:fld>
            <a:endParaRPr lang="en-IN"/>
          </a:p>
        </p:txBody>
      </p:sp>
    </p:spTree>
    <p:extLst>
      <p:ext uri="{BB962C8B-B14F-4D97-AF65-F5344CB8AC3E}">
        <p14:creationId xmlns:p14="http://schemas.microsoft.com/office/powerpoint/2010/main" val="3481590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8FA73E-5D65-2805-B844-6AFF16599505}"/>
              </a:ext>
            </a:extLst>
          </p:cNvPr>
          <p:cNvPicPr>
            <a:picLocks noChangeAspect="1"/>
          </p:cNvPicPr>
          <p:nvPr/>
        </p:nvPicPr>
        <p:blipFill>
          <a:blip r:embed="rId2"/>
          <a:stretch>
            <a:fillRect/>
          </a:stretch>
        </p:blipFill>
        <p:spPr>
          <a:xfrm>
            <a:off x="616787" y="813733"/>
            <a:ext cx="10516470" cy="5019586"/>
          </a:xfrm>
          <a:prstGeom prst="rect">
            <a:avLst/>
          </a:prstGeom>
        </p:spPr>
      </p:pic>
    </p:spTree>
    <p:extLst>
      <p:ext uri="{BB962C8B-B14F-4D97-AF65-F5344CB8AC3E}">
        <p14:creationId xmlns:p14="http://schemas.microsoft.com/office/powerpoint/2010/main" val="1348891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03F240-E706-AF59-C17F-7075FE06D9EE}"/>
              </a:ext>
            </a:extLst>
          </p:cNvPr>
          <p:cNvPicPr>
            <a:picLocks noChangeAspect="1"/>
          </p:cNvPicPr>
          <p:nvPr/>
        </p:nvPicPr>
        <p:blipFill>
          <a:blip r:embed="rId2"/>
          <a:stretch>
            <a:fillRect/>
          </a:stretch>
        </p:blipFill>
        <p:spPr>
          <a:xfrm>
            <a:off x="6982649" y="1740815"/>
            <a:ext cx="5008016" cy="2822796"/>
          </a:xfrm>
          <a:prstGeom prst="rect">
            <a:avLst/>
          </a:prstGeom>
        </p:spPr>
      </p:pic>
      <p:sp>
        <p:nvSpPr>
          <p:cNvPr id="5" name="Rectangle 4">
            <a:extLst>
              <a:ext uri="{FF2B5EF4-FFF2-40B4-BE49-F238E27FC236}">
                <a16:creationId xmlns:a16="http://schemas.microsoft.com/office/drawing/2014/main" id="{1AECE4D9-B01D-82AD-2A60-56028AE9217A}"/>
              </a:ext>
            </a:extLst>
          </p:cNvPr>
          <p:cNvSpPr/>
          <p:nvPr/>
        </p:nvSpPr>
        <p:spPr>
          <a:xfrm>
            <a:off x="10779853" y="4475210"/>
            <a:ext cx="1266526" cy="88401"/>
          </a:xfrm>
          <a:prstGeom prst="rect">
            <a:avLst/>
          </a:prstGeom>
          <a:solidFill>
            <a:srgbClr val="FEFEFE"/>
          </a:solidFill>
          <a:ln>
            <a:solidFill>
              <a:srgbClr val="FCFC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13AAF63A-2E6D-3CF0-F0F1-0A5DAF16301C}"/>
              </a:ext>
            </a:extLst>
          </p:cNvPr>
          <p:cNvSpPr txBox="1"/>
          <p:nvPr/>
        </p:nvSpPr>
        <p:spPr>
          <a:xfrm>
            <a:off x="201335" y="188957"/>
            <a:ext cx="6863107" cy="6186309"/>
          </a:xfrm>
          <a:prstGeom prst="rect">
            <a:avLst/>
          </a:prstGeom>
          <a:noFill/>
        </p:spPr>
        <p:txBody>
          <a:bodyPr wrap="square">
            <a:spAutoFit/>
          </a:bodyPr>
          <a:lstStyle/>
          <a:p>
            <a:r>
              <a:rPr lang="en-IN" b="1" dirty="0"/>
              <a:t>Project Objective – 1</a:t>
            </a:r>
          </a:p>
          <a:p>
            <a:endParaRPr lang="en-IN" b="1" dirty="0"/>
          </a:p>
          <a:p>
            <a:pPr lvl="0"/>
            <a:r>
              <a:rPr lang="en-IN" dirty="0"/>
              <a:t>Install and configure </a:t>
            </a:r>
            <a:r>
              <a:rPr lang="en-IN" b="1" dirty="0"/>
              <a:t>Open5GS</a:t>
            </a:r>
            <a:r>
              <a:rPr lang="en-IN" dirty="0"/>
              <a:t> on a </a:t>
            </a:r>
            <a:r>
              <a:rPr lang="en-IN" b="1" dirty="0"/>
              <a:t>Raspberry Pi 4</a:t>
            </a:r>
            <a:r>
              <a:rPr lang="en-IN" dirty="0"/>
              <a:t> to create a standalone 5G Core Network.</a:t>
            </a:r>
          </a:p>
          <a:p>
            <a:pPr lvl="0"/>
            <a:r>
              <a:rPr lang="en-IN" dirty="0"/>
              <a:t>Install and configure </a:t>
            </a:r>
            <a:r>
              <a:rPr lang="en-IN" b="1" dirty="0"/>
              <a:t>Simu5G</a:t>
            </a:r>
            <a:r>
              <a:rPr lang="en-IN" dirty="0"/>
              <a:t> on </a:t>
            </a:r>
            <a:r>
              <a:rPr lang="en-IN" b="1" dirty="0"/>
              <a:t>Ubuntu (WSL)</a:t>
            </a:r>
            <a:r>
              <a:rPr lang="en-IN" dirty="0"/>
              <a:t> for 5G Radio Access Network (RAN) simulation.</a:t>
            </a:r>
          </a:p>
          <a:p>
            <a:pPr lvl="0"/>
            <a:r>
              <a:rPr lang="en-IN" dirty="0"/>
              <a:t>Investigate the possibility of integrating Simu5G with Open5GS to create an end-to-end 5G testbed.</a:t>
            </a:r>
          </a:p>
          <a:p>
            <a:pPr lvl="0"/>
            <a:r>
              <a:rPr lang="en-IN" dirty="0"/>
              <a:t>Analyse whether this integrated setup can be used for </a:t>
            </a:r>
            <a:r>
              <a:rPr lang="en-IN" b="1" dirty="0"/>
              <a:t>High-Speed Railway (HSR)</a:t>
            </a:r>
            <a:r>
              <a:rPr lang="en-IN" dirty="0"/>
              <a:t> handover research.</a:t>
            </a:r>
          </a:p>
          <a:p>
            <a:pPr lvl="0"/>
            <a:endParaRPr lang="en-IN" dirty="0"/>
          </a:p>
          <a:p>
            <a:r>
              <a:rPr lang="en-IN" b="1" dirty="0"/>
              <a:t>Challenges Encountered</a:t>
            </a:r>
          </a:p>
          <a:p>
            <a:pPr lvl="0"/>
            <a:r>
              <a:rPr lang="en-IN" dirty="0"/>
              <a:t>Successfully configured Ubuntu, WSL, Nix, </a:t>
            </a:r>
            <a:r>
              <a:rPr lang="en-IN" dirty="0" err="1"/>
              <a:t>OMNeT</a:t>
            </a:r>
            <a:r>
              <a:rPr lang="en-IN" dirty="0"/>
              <a:t>++, INET, and Simu5G.</a:t>
            </a:r>
          </a:p>
          <a:p>
            <a:pPr lvl="0"/>
            <a:r>
              <a:rPr lang="en-IN" dirty="0"/>
              <a:t>Configured Raspberry Pi networking, SSH, MongoDB, Open5GS services, and </a:t>
            </a:r>
            <a:r>
              <a:rPr lang="en-IN" dirty="0" err="1"/>
              <a:t>WebUI</a:t>
            </a:r>
            <a:r>
              <a:rPr lang="en-IN" dirty="0"/>
              <a:t>.</a:t>
            </a:r>
          </a:p>
          <a:p>
            <a:pPr lvl="0"/>
            <a:r>
              <a:rPr lang="en-IN" dirty="0"/>
              <a:t>Resolved multiple installation, dependency, and compilation issues during the setup.</a:t>
            </a:r>
          </a:p>
          <a:p>
            <a:pPr lvl="0"/>
            <a:r>
              <a:rPr lang="en-IN" dirty="0"/>
              <a:t>After detailed investigation, found that </a:t>
            </a:r>
            <a:r>
              <a:rPr lang="en-IN" b="1" dirty="0"/>
              <a:t>Simu5G does not natively support direct communication with an external Open5GS core</a:t>
            </a:r>
            <a:r>
              <a:rPr lang="en-IN" dirty="0"/>
              <a:t> because it lacks the required </a:t>
            </a:r>
            <a:r>
              <a:rPr lang="en-IN" b="1" dirty="0"/>
              <a:t>3GPP N2 (NGAP)</a:t>
            </a:r>
            <a:r>
              <a:rPr lang="en-IN" dirty="0"/>
              <a:t> and </a:t>
            </a:r>
            <a:r>
              <a:rPr lang="en-IN" b="1" dirty="0"/>
              <a:t>N3 (GTP-U)</a:t>
            </a:r>
            <a:r>
              <a:rPr lang="en-IN" dirty="0"/>
              <a:t> interfaces needed for interoperability.</a:t>
            </a:r>
          </a:p>
        </p:txBody>
      </p:sp>
    </p:spTree>
    <p:extLst>
      <p:ext uri="{BB962C8B-B14F-4D97-AF65-F5344CB8AC3E}">
        <p14:creationId xmlns:p14="http://schemas.microsoft.com/office/powerpoint/2010/main" val="3948848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941E5B-BBA3-7F43-2D83-9F7CCB7E57B5}"/>
              </a:ext>
            </a:extLst>
          </p:cNvPr>
          <p:cNvSpPr txBox="1"/>
          <p:nvPr/>
        </p:nvSpPr>
        <p:spPr>
          <a:xfrm>
            <a:off x="369116" y="99584"/>
            <a:ext cx="3582099" cy="369332"/>
          </a:xfrm>
          <a:prstGeom prst="rect">
            <a:avLst/>
          </a:prstGeom>
          <a:noFill/>
        </p:spPr>
        <p:txBody>
          <a:bodyPr wrap="square" rtlCol="0">
            <a:spAutoFit/>
          </a:bodyPr>
          <a:lstStyle/>
          <a:p>
            <a:r>
              <a:rPr lang="en-IN" b="1" dirty="0"/>
              <a:t>Survey papers</a:t>
            </a:r>
          </a:p>
        </p:txBody>
      </p:sp>
      <p:pic>
        <p:nvPicPr>
          <p:cNvPr id="6" name="Picture 5">
            <a:extLst>
              <a:ext uri="{FF2B5EF4-FFF2-40B4-BE49-F238E27FC236}">
                <a16:creationId xmlns:a16="http://schemas.microsoft.com/office/drawing/2014/main" id="{CA2D47EA-AE77-68C1-7E1E-564E752713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116" y="468916"/>
            <a:ext cx="10972357" cy="6175232"/>
          </a:xfrm>
          <a:prstGeom prst="rect">
            <a:avLst/>
          </a:prstGeom>
        </p:spPr>
      </p:pic>
    </p:spTree>
    <p:extLst>
      <p:ext uri="{BB962C8B-B14F-4D97-AF65-F5344CB8AC3E}">
        <p14:creationId xmlns:p14="http://schemas.microsoft.com/office/powerpoint/2010/main" val="3078230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D9174B-145A-343A-6D96-BE947EE900F8}"/>
              </a:ext>
            </a:extLst>
          </p:cNvPr>
          <p:cNvSpPr txBox="1"/>
          <p:nvPr/>
        </p:nvSpPr>
        <p:spPr>
          <a:xfrm>
            <a:off x="343948" y="600820"/>
            <a:ext cx="3590489" cy="369332"/>
          </a:xfrm>
          <a:prstGeom prst="rect">
            <a:avLst/>
          </a:prstGeom>
          <a:noFill/>
        </p:spPr>
        <p:txBody>
          <a:bodyPr wrap="square" rtlCol="0">
            <a:spAutoFit/>
          </a:bodyPr>
          <a:lstStyle/>
          <a:p>
            <a:r>
              <a:rPr lang="en-IN" b="1" dirty="0"/>
              <a:t>Simulation Parameters</a:t>
            </a:r>
          </a:p>
        </p:txBody>
      </p:sp>
      <p:pic>
        <p:nvPicPr>
          <p:cNvPr id="4" name="Picture 3">
            <a:extLst>
              <a:ext uri="{FF2B5EF4-FFF2-40B4-BE49-F238E27FC236}">
                <a16:creationId xmlns:a16="http://schemas.microsoft.com/office/drawing/2014/main" id="{95F72E6A-55D6-75C1-128F-22FD78FE31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349" y="1061449"/>
            <a:ext cx="10085902" cy="5979145"/>
          </a:xfrm>
          <a:prstGeom prst="rect">
            <a:avLst/>
          </a:prstGeom>
        </p:spPr>
      </p:pic>
      <p:sp>
        <p:nvSpPr>
          <p:cNvPr id="5" name="Rectangle 4">
            <a:extLst>
              <a:ext uri="{FF2B5EF4-FFF2-40B4-BE49-F238E27FC236}">
                <a16:creationId xmlns:a16="http://schemas.microsoft.com/office/drawing/2014/main" id="{576D3F07-52FC-6422-911F-1CFEB814F2A8}"/>
              </a:ext>
            </a:extLst>
          </p:cNvPr>
          <p:cNvSpPr/>
          <p:nvPr/>
        </p:nvSpPr>
        <p:spPr>
          <a:xfrm>
            <a:off x="1081650" y="6468320"/>
            <a:ext cx="10057300" cy="496748"/>
          </a:xfrm>
          <a:prstGeom prst="rect">
            <a:avLst/>
          </a:prstGeom>
          <a:solidFill>
            <a:srgbClr val="FDFDFE"/>
          </a:solidFill>
          <a:ln>
            <a:solidFill>
              <a:srgbClr val="FC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1E6B95C-67AB-73C7-943B-3B291430CFA8}"/>
              </a:ext>
            </a:extLst>
          </p:cNvPr>
          <p:cNvSpPr txBox="1"/>
          <p:nvPr/>
        </p:nvSpPr>
        <p:spPr>
          <a:xfrm>
            <a:off x="343948" y="140191"/>
            <a:ext cx="2283959" cy="369332"/>
          </a:xfrm>
          <a:prstGeom prst="rect">
            <a:avLst/>
          </a:prstGeom>
          <a:noFill/>
        </p:spPr>
        <p:txBody>
          <a:bodyPr wrap="none" rtlCol="0">
            <a:spAutoFit/>
          </a:bodyPr>
          <a:lstStyle/>
          <a:p>
            <a:r>
              <a:rPr lang="en-IN" b="1" dirty="0"/>
              <a:t>Project Objective - 2</a:t>
            </a:r>
          </a:p>
        </p:txBody>
      </p:sp>
    </p:spTree>
    <p:extLst>
      <p:ext uri="{BB962C8B-B14F-4D97-AF65-F5344CB8AC3E}">
        <p14:creationId xmlns:p14="http://schemas.microsoft.com/office/powerpoint/2010/main" val="1595434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C43E14-3901-983D-9723-C1CD5801B1AF}"/>
              </a:ext>
            </a:extLst>
          </p:cNvPr>
          <p:cNvSpPr txBox="1"/>
          <p:nvPr/>
        </p:nvSpPr>
        <p:spPr>
          <a:xfrm>
            <a:off x="536896" y="101077"/>
            <a:ext cx="10586906" cy="6586418"/>
          </a:xfrm>
          <a:prstGeom prst="rect">
            <a:avLst/>
          </a:prstGeom>
          <a:noFill/>
        </p:spPr>
        <p:txBody>
          <a:bodyPr wrap="square" rtlCol="0">
            <a:spAutoFit/>
          </a:bodyPr>
          <a:lstStyle/>
          <a:p>
            <a:r>
              <a:rPr lang="en-IN" b="1" dirty="0"/>
              <a:t>Network Topology</a:t>
            </a:r>
          </a:p>
          <a:p>
            <a:endParaRPr lang="en-IN" b="1" dirty="0"/>
          </a:p>
          <a:p>
            <a:r>
              <a:rPr lang="en-IN" sz="1600" dirty="0"/>
              <a:t>The network topology was designed to emulate a </a:t>
            </a:r>
            <a:r>
              <a:rPr lang="en-IN" sz="1600" b="1" dirty="0"/>
              <a:t>5G High-Speed Railway (HSR)</a:t>
            </a:r>
            <a:r>
              <a:rPr lang="en-IN" sz="1600" dirty="0"/>
              <a:t> communication environment.</a:t>
            </a:r>
          </a:p>
          <a:p>
            <a:r>
              <a:rPr lang="en-IN" sz="1600" b="1" dirty="0"/>
              <a:t>Initial Deployment</a:t>
            </a:r>
          </a:p>
          <a:p>
            <a:pPr lvl="0"/>
            <a:r>
              <a:rPr lang="en-IN" sz="1600" b="1" dirty="0"/>
              <a:t>19 </a:t>
            </a:r>
            <a:r>
              <a:rPr lang="en-IN" sz="1600" b="1" dirty="0" err="1"/>
              <a:t>gNBs</a:t>
            </a:r>
            <a:r>
              <a:rPr lang="en-IN" sz="1600" dirty="0"/>
              <a:t> arranged in a </a:t>
            </a:r>
            <a:r>
              <a:rPr lang="en-IN" sz="1600" b="1" dirty="0"/>
              <a:t>two-layer hexagonal topology</a:t>
            </a:r>
            <a:r>
              <a:rPr lang="en-IN" sz="1600" dirty="0"/>
              <a:t>. </a:t>
            </a:r>
          </a:p>
          <a:p>
            <a:pPr lvl="0"/>
            <a:r>
              <a:rPr lang="en-IN" sz="1600" b="1" dirty="0"/>
              <a:t>Layer 1:</a:t>
            </a:r>
            <a:r>
              <a:rPr lang="en-IN" sz="1600" dirty="0"/>
              <a:t> 10 </a:t>
            </a:r>
            <a:r>
              <a:rPr lang="en-IN" sz="1600" dirty="0" err="1"/>
              <a:t>gNBs</a:t>
            </a:r>
            <a:r>
              <a:rPr lang="en-IN" sz="1600" dirty="0"/>
              <a:t> positioned along the railway track to provide primary coverage. </a:t>
            </a:r>
          </a:p>
          <a:p>
            <a:pPr lvl="0"/>
            <a:r>
              <a:rPr lang="en-IN" sz="1600" b="1" dirty="0"/>
              <a:t>Layer 2:</a:t>
            </a:r>
            <a:r>
              <a:rPr lang="en-IN" sz="1600" dirty="0"/>
              <a:t> 9 </a:t>
            </a:r>
            <a:r>
              <a:rPr lang="en-IN" sz="1600" dirty="0" err="1"/>
              <a:t>gNBs</a:t>
            </a:r>
            <a:r>
              <a:rPr lang="en-IN" sz="1600" dirty="0"/>
              <a:t> deployed to introduce neighbouring-cell interference and emulate a realistic cellular environment. </a:t>
            </a:r>
          </a:p>
          <a:p>
            <a:pPr lvl="0"/>
            <a:endParaRPr lang="en-IN" sz="1600" dirty="0"/>
          </a:p>
          <a:p>
            <a:pPr lvl="0"/>
            <a:endParaRPr lang="en-IN" sz="1600" dirty="0"/>
          </a:p>
          <a:p>
            <a:pPr lvl="0"/>
            <a:endParaRPr lang="en-IN" sz="1600" dirty="0"/>
          </a:p>
          <a:p>
            <a:pPr lvl="0"/>
            <a:endParaRPr lang="en-IN" sz="1600" dirty="0"/>
          </a:p>
          <a:p>
            <a:endParaRPr lang="en-IN" sz="1600" b="1" dirty="0"/>
          </a:p>
          <a:p>
            <a:endParaRPr lang="en-IN" sz="1600" b="1" dirty="0"/>
          </a:p>
          <a:p>
            <a:endParaRPr lang="en-IN" sz="1600" b="1" dirty="0"/>
          </a:p>
          <a:p>
            <a:endParaRPr lang="en-IN" sz="1600" b="1" dirty="0"/>
          </a:p>
          <a:p>
            <a:endParaRPr lang="en-IN" sz="1600" b="1" dirty="0"/>
          </a:p>
          <a:p>
            <a:pPr lvl="0"/>
            <a:endParaRPr lang="en-IN" sz="1600" dirty="0"/>
          </a:p>
          <a:p>
            <a:endParaRPr lang="en-IN" sz="1600" b="1" dirty="0"/>
          </a:p>
          <a:p>
            <a:r>
              <a:rPr lang="en-IN" sz="1600" b="1" dirty="0"/>
              <a:t>User Equipment (UE) Configuration</a:t>
            </a:r>
          </a:p>
          <a:p>
            <a:pPr lvl="0"/>
            <a:r>
              <a:rPr lang="en-IN" sz="1600" dirty="0"/>
              <a:t>Initially, a </a:t>
            </a:r>
            <a:r>
              <a:rPr lang="en-IN" sz="1600" b="1" dirty="0"/>
              <a:t>single UE</a:t>
            </a:r>
            <a:r>
              <a:rPr lang="en-IN" sz="1600" dirty="0"/>
              <a:t> represented the train. </a:t>
            </a:r>
          </a:p>
          <a:p>
            <a:pPr lvl="0"/>
            <a:endParaRPr lang="en-IN" sz="1600" dirty="0"/>
          </a:p>
          <a:p>
            <a:r>
              <a:rPr lang="en-IN" sz="1600" b="1" dirty="0"/>
              <a:t>Modified Deployment</a:t>
            </a:r>
          </a:p>
          <a:p>
            <a:pPr lvl="0"/>
            <a:r>
              <a:rPr lang="en-IN" sz="1600" dirty="0"/>
              <a:t>During experimentation, it was observed that the second-layer </a:t>
            </a:r>
            <a:r>
              <a:rPr lang="en-IN" sz="1600" dirty="0" err="1"/>
              <a:t>gNBs</a:t>
            </a:r>
            <a:r>
              <a:rPr lang="en-IN" sz="1600" dirty="0"/>
              <a:t> did not actively participate in handover events. </a:t>
            </a:r>
          </a:p>
          <a:p>
            <a:pPr lvl="0"/>
            <a:r>
              <a:rPr lang="en-IN" sz="1600" dirty="0"/>
              <a:t>The topology was therefore simplified to </a:t>
            </a:r>
            <a:r>
              <a:rPr lang="en-IN" sz="1600" b="1" dirty="0"/>
              <a:t>10 </a:t>
            </a:r>
            <a:r>
              <a:rPr lang="en-IN" sz="1600" b="1" dirty="0" err="1"/>
              <a:t>gNBs</a:t>
            </a:r>
            <a:r>
              <a:rPr lang="en-IN" sz="1600" dirty="0"/>
              <a:t> positioned along the railway track, enabling clearer observation and analysis of handover behaviour. </a:t>
            </a:r>
          </a:p>
          <a:p>
            <a:endParaRPr lang="en-IN" dirty="0"/>
          </a:p>
        </p:txBody>
      </p:sp>
      <p:graphicFrame>
        <p:nvGraphicFramePr>
          <p:cNvPr id="4" name="Table 3">
            <a:extLst>
              <a:ext uri="{FF2B5EF4-FFF2-40B4-BE49-F238E27FC236}">
                <a16:creationId xmlns:a16="http://schemas.microsoft.com/office/drawing/2014/main" id="{44B24C97-3172-B0D5-E15E-595461D01841}"/>
              </a:ext>
            </a:extLst>
          </p:cNvPr>
          <p:cNvGraphicFramePr>
            <a:graphicFrameLocks noGrp="1"/>
          </p:cNvGraphicFramePr>
          <p:nvPr>
            <p:extLst>
              <p:ext uri="{D42A27DB-BD31-4B8C-83A1-F6EECF244321}">
                <p14:modId xmlns:p14="http://schemas.microsoft.com/office/powerpoint/2010/main" val="4004115442"/>
              </p:ext>
            </p:extLst>
          </p:nvPr>
        </p:nvGraphicFramePr>
        <p:xfrm>
          <a:off x="1644242" y="2247995"/>
          <a:ext cx="8539992" cy="1971670"/>
        </p:xfrm>
        <a:graphic>
          <a:graphicData uri="http://schemas.openxmlformats.org/drawingml/2006/table">
            <a:tbl>
              <a:tblPr/>
              <a:tblGrid>
                <a:gridCol w="4269996">
                  <a:extLst>
                    <a:ext uri="{9D8B030D-6E8A-4147-A177-3AD203B41FA5}">
                      <a16:colId xmlns:a16="http://schemas.microsoft.com/office/drawing/2014/main" val="689819073"/>
                    </a:ext>
                  </a:extLst>
                </a:gridCol>
                <a:gridCol w="4269996">
                  <a:extLst>
                    <a:ext uri="{9D8B030D-6E8A-4147-A177-3AD203B41FA5}">
                      <a16:colId xmlns:a16="http://schemas.microsoft.com/office/drawing/2014/main" val="2024749674"/>
                    </a:ext>
                  </a:extLst>
                </a:gridCol>
              </a:tblGrid>
              <a:tr h="394334">
                <a:tc>
                  <a:txBody>
                    <a:bodyPr/>
                    <a:lstStyle/>
                    <a:p>
                      <a:pPr>
                        <a:buNone/>
                      </a:pPr>
                      <a:r>
                        <a:rPr lang="en-IN" dirty="0"/>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IN"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64620001"/>
                  </a:ext>
                </a:extLst>
              </a:tr>
              <a:tr h="394334">
                <a:tc>
                  <a:txBody>
                    <a:bodyPr/>
                    <a:lstStyle/>
                    <a:p>
                      <a:pPr>
                        <a:buNone/>
                      </a:pPr>
                      <a:r>
                        <a:rPr lang="en-IN" dirty="0"/>
                        <a:t>Horizontal gNB Spacing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500 m</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6171671"/>
                  </a:ext>
                </a:extLst>
              </a:tr>
              <a:tr h="394334">
                <a:tc>
                  <a:txBody>
                    <a:bodyPr/>
                    <a:lstStyle/>
                    <a:p>
                      <a:pPr>
                        <a:buNone/>
                      </a:pPr>
                      <a:r>
                        <a:rPr lang="en-IN"/>
                        <a:t>Horizontal Offset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250 m</a:t>
                      </a:r>
                      <a:r>
                        <a:rPr lang="en-IN" dirty="0"/>
                        <a:t> </a:t>
                      </a:r>
                      <a:r>
                        <a:rPr lang="en-IN" i="1" dirty="0"/>
                        <a:t>(ISD / 2)</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9713840"/>
                  </a:ext>
                </a:extLst>
              </a:tr>
              <a:tr h="394334">
                <a:tc>
                  <a:txBody>
                    <a:bodyPr/>
                    <a:lstStyle/>
                    <a:p>
                      <a:pPr>
                        <a:buNone/>
                      </a:pPr>
                      <a:r>
                        <a:rPr lang="en-IN"/>
                        <a:t>Vertical Spacing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 433 m</a:t>
                      </a:r>
                      <a:r>
                        <a:rPr lang="en-IN"/>
                        <a:t> </a:t>
                      </a:r>
                      <a:r>
                        <a:rPr lang="en-IN" i="1"/>
                        <a:t>(500 × √3 / 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7340977"/>
                  </a:ext>
                </a:extLst>
              </a:tr>
              <a:tr h="394334">
                <a:tc>
                  <a:txBody>
                    <a:bodyPr/>
                    <a:lstStyle/>
                    <a:p>
                      <a:pPr>
                        <a:buNone/>
                      </a:pPr>
                      <a:r>
                        <a:rPr lang="en-IN"/>
                        <a:t>Inter-Site Distance (ISD)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500 m</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2146429"/>
                  </a:ext>
                </a:extLst>
              </a:tr>
            </a:tbl>
          </a:graphicData>
        </a:graphic>
      </p:graphicFrame>
    </p:spTree>
    <p:extLst>
      <p:ext uri="{BB962C8B-B14F-4D97-AF65-F5344CB8AC3E}">
        <p14:creationId xmlns:p14="http://schemas.microsoft.com/office/powerpoint/2010/main" val="2770168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80604-FBD8-69EE-BDFC-E71B8D79E337}"/>
              </a:ext>
            </a:extLst>
          </p:cNvPr>
          <p:cNvPicPr>
            <a:picLocks noChangeAspect="1"/>
          </p:cNvPicPr>
          <p:nvPr/>
        </p:nvPicPr>
        <p:blipFill>
          <a:blip r:embed="rId2"/>
          <a:stretch>
            <a:fillRect/>
          </a:stretch>
        </p:blipFill>
        <p:spPr>
          <a:xfrm>
            <a:off x="1510017" y="14057"/>
            <a:ext cx="9060109" cy="3786155"/>
          </a:xfrm>
          <a:prstGeom prst="rect">
            <a:avLst/>
          </a:prstGeom>
        </p:spPr>
      </p:pic>
      <p:graphicFrame>
        <p:nvGraphicFramePr>
          <p:cNvPr id="4" name="Table 3">
            <a:extLst>
              <a:ext uri="{FF2B5EF4-FFF2-40B4-BE49-F238E27FC236}">
                <a16:creationId xmlns:a16="http://schemas.microsoft.com/office/drawing/2014/main" id="{0E95B092-FE66-A64D-70B6-96AEF3CAF3C8}"/>
              </a:ext>
            </a:extLst>
          </p:cNvPr>
          <p:cNvGraphicFramePr>
            <a:graphicFrameLocks noGrp="1"/>
          </p:cNvGraphicFramePr>
          <p:nvPr>
            <p:extLst>
              <p:ext uri="{D42A27DB-BD31-4B8C-83A1-F6EECF244321}">
                <p14:modId xmlns:p14="http://schemas.microsoft.com/office/powerpoint/2010/main" val="3021064227"/>
              </p:ext>
            </p:extLst>
          </p:nvPr>
        </p:nvGraphicFramePr>
        <p:xfrm>
          <a:off x="1166070" y="3998817"/>
          <a:ext cx="10268124" cy="2712160"/>
        </p:xfrm>
        <a:graphic>
          <a:graphicData uri="http://schemas.openxmlformats.org/drawingml/2006/table">
            <a:tbl>
              <a:tblPr/>
              <a:tblGrid>
                <a:gridCol w="4127383">
                  <a:extLst>
                    <a:ext uri="{9D8B030D-6E8A-4147-A177-3AD203B41FA5}">
                      <a16:colId xmlns:a16="http://schemas.microsoft.com/office/drawing/2014/main" val="2524360812"/>
                    </a:ext>
                  </a:extLst>
                </a:gridCol>
                <a:gridCol w="6140741">
                  <a:extLst>
                    <a:ext uri="{9D8B030D-6E8A-4147-A177-3AD203B41FA5}">
                      <a16:colId xmlns:a16="http://schemas.microsoft.com/office/drawing/2014/main" val="1715449944"/>
                    </a:ext>
                  </a:extLst>
                </a:gridCol>
              </a:tblGrid>
              <a:tr h="107543">
                <a:tc>
                  <a:txBody>
                    <a:bodyPr/>
                    <a:lstStyle/>
                    <a:p>
                      <a:pPr>
                        <a:buNone/>
                      </a:pPr>
                      <a:r>
                        <a:rPr lang="en-IN" sz="1300" b="1"/>
                        <a:t>Component</a:t>
                      </a:r>
                      <a:endParaRPr lang="en-IN" sz="1300"/>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IN" sz="1300" b="1" dirty="0"/>
                        <a:t>Summary</a:t>
                      </a:r>
                      <a:endParaRPr lang="en-IN" sz="1300" dirty="0"/>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28138135"/>
                  </a:ext>
                </a:extLst>
              </a:tr>
              <a:tr h="349515">
                <a:tc>
                  <a:txBody>
                    <a:bodyPr/>
                    <a:lstStyle/>
                    <a:p>
                      <a:pPr>
                        <a:buNone/>
                      </a:pPr>
                      <a:r>
                        <a:rPr lang="en-IN" sz="1300" b="1"/>
                        <a:t>Server</a:t>
                      </a:r>
                      <a:endParaRPr lang="en-IN" sz="1300"/>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dirty="0"/>
                        <a:t>The server acts as the application host that generates or receives network traffic during the simulation. It sends UDP packets to the UE through the 5G core network for performance evaluation.</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0721733"/>
                  </a:ext>
                </a:extLst>
              </a:tr>
              <a:tr h="349515">
                <a:tc>
                  <a:txBody>
                    <a:bodyPr/>
                    <a:lstStyle/>
                    <a:p>
                      <a:pPr>
                        <a:buNone/>
                      </a:pPr>
                      <a:r>
                        <a:rPr lang="en-IN" sz="1300" b="1"/>
                        <a:t>Router</a:t>
                      </a:r>
                      <a:endParaRPr lang="en-IN" sz="1300"/>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t>The router forwards IP packets between the server and the 5G core network. It serves as the gateway connecting the external network (Internet) to the core network.</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5743304"/>
                  </a:ext>
                </a:extLst>
              </a:tr>
              <a:tr h="510830">
                <a:tc>
                  <a:txBody>
                    <a:bodyPr/>
                    <a:lstStyle/>
                    <a:p>
                      <a:pPr>
                        <a:buNone/>
                      </a:pPr>
                      <a:r>
                        <a:rPr lang="en-IN" sz="1300" b="1"/>
                        <a:t>UPF (User Plane Function)</a:t>
                      </a:r>
                      <a:endParaRPr lang="en-IN" sz="1300"/>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t>The UPF is a core component of the 5G Core responsible for forwarding user data packets between the core network and the radio access network. It performs packet routing, forwarding, and QoS enforcement while maintaining data connectivity.</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9017559"/>
                  </a:ext>
                </a:extLst>
              </a:tr>
              <a:tr h="430173">
                <a:tc>
                  <a:txBody>
                    <a:bodyPr/>
                    <a:lstStyle/>
                    <a:p>
                      <a:pPr>
                        <a:buNone/>
                      </a:pPr>
                      <a:r>
                        <a:rPr lang="en-IN" sz="1300" b="1"/>
                        <a:t>iUPF (Intermediate User Plane Function)</a:t>
                      </a:r>
                      <a:endParaRPr lang="en-IN" sz="1300"/>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dirty="0"/>
                        <a:t>The </a:t>
                      </a:r>
                      <a:r>
                        <a:rPr lang="en-IN" sz="1300" dirty="0" err="1"/>
                        <a:t>iUPF</a:t>
                      </a:r>
                      <a:r>
                        <a:rPr lang="en-IN" sz="1300" dirty="0"/>
                        <a:t> is an intermediate user plane node placed between the UPF and the </a:t>
                      </a:r>
                      <a:r>
                        <a:rPr lang="en-IN" sz="1300" dirty="0" err="1"/>
                        <a:t>gNBs</a:t>
                      </a:r>
                      <a:r>
                        <a:rPr lang="en-IN" sz="1300" dirty="0"/>
                        <a:t> to distribute traffic efficiently. It is commonly used in hierarchical 5G architectures to improve scalability, support edge computing, and reduce latency.</a:t>
                      </a:r>
                    </a:p>
                  </a:txBody>
                  <a:tcPr marL="66944" marR="66944" marT="33472" marB="33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2491579"/>
                  </a:ext>
                </a:extLst>
              </a:tr>
            </a:tbl>
          </a:graphicData>
        </a:graphic>
      </p:graphicFrame>
    </p:spTree>
    <p:extLst>
      <p:ext uri="{BB962C8B-B14F-4D97-AF65-F5344CB8AC3E}">
        <p14:creationId xmlns:p14="http://schemas.microsoft.com/office/powerpoint/2010/main" val="3926501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65EB9F-4350-4CC2-823F-BA3E0EE0F2CF}"/>
              </a:ext>
            </a:extLst>
          </p:cNvPr>
          <p:cNvSpPr txBox="1"/>
          <p:nvPr/>
        </p:nvSpPr>
        <p:spPr>
          <a:xfrm>
            <a:off x="318781" y="41837"/>
            <a:ext cx="5243119" cy="369332"/>
          </a:xfrm>
          <a:prstGeom prst="rect">
            <a:avLst/>
          </a:prstGeom>
          <a:noFill/>
        </p:spPr>
        <p:txBody>
          <a:bodyPr wrap="square" rtlCol="0">
            <a:spAutoFit/>
          </a:bodyPr>
          <a:lstStyle/>
          <a:p>
            <a:r>
              <a:rPr lang="en-IN" b="1" dirty="0"/>
              <a:t>Multi-UE Train </a:t>
            </a:r>
            <a:r>
              <a:rPr lang="en-IN" b="1" dirty="0" err="1"/>
              <a:t>Modeling</a:t>
            </a:r>
            <a:endParaRPr lang="en-IN" b="1" dirty="0"/>
          </a:p>
        </p:txBody>
      </p:sp>
      <p:sp>
        <p:nvSpPr>
          <p:cNvPr id="3" name="TextBox 2">
            <a:extLst>
              <a:ext uri="{FF2B5EF4-FFF2-40B4-BE49-F238E27FC236}">
                <a16:creationId xmlns:a16="http://schemas.microsoft.com/office/drawing/2014/main" id="{A0F1042A-0775-1295-48F4-A93AA18DBB72}"/>
              </a:ext>
            </a:extLst>
          </p:cNvPr>
          <p:cNvSpPr txBox="1"/>
          <p:nvPr/>
        </p:nvSpPr>
        <p:spPr>
          <a:xfrm>
            <a:off x="318781" y="411169"/>
            <a:ext cx="11873219" cy="3816429"/>
          </a:xfrm>
          <a:prstGeom prst="rect">
            <a:avLst/>
          </a:prstGeom>
          <a:noFill/>
        </p:spPr>
        <p:txBody>
          <a:bodyPr wrap="square" rtlCol="0">
            <a:spAutoFit/>
          </a:bodyPr>
          <a:lstStyle/>
          <a:p>
            <a:r>
              <a:rPr lang="en-IN" sz="1600" dirty="0"/>
              <a:t>To better represent a real high-speed train environment, the simulation was extended from a </a:t>
            </a:r>
            <a:r>
              <a:rPr lang="en-IN" sz="1600" b="1" dirty="0"/>
              <a:t>single User Equipment (UE)</a:t>
            </a:r>
            <a:r>
              <a:rPr lang="en-IN" sz="1600" dirty="0"/>
              <a:t> to </a:t>
            </a:r>
            <a:r>
              <a:rPr lang="en-IN" sz="1600" b="1" dirty="0"/>
              <a:t>20 UEs</a:t>
            </a:r>
            <a:r>
              <a:rPr lang="en-IN" sz="1600" dirty="0"/>
              <a:t>, where each UE represents an individual passenger device inside the train.</a:t>
            </a:r>
            <a:endParaRPr lang="en-IN" sz="1600" b="1" dirty="0"/>
          </a:p>
          <a:p>
            <a:r>
              <a:rPr lang="en-IN" sz="1600" b="1" dirty="0"/>
              <a:t>Phase 1 – Single UE</a:t>
            </a:r>
          </a:p>
          <a:p>
            <a:pPr lvl="0"/>
            <a:r>
              <a:rPr lang="en-IN" sz="1600" dirty="0"/>
              <a:t>Initial simulations performed using </a:t>
            </a:r>
            <a:r>
              <a:rPr lang="en-IN" sz="1600" b="1" dirty="0"/>
              <a:t>1 UE</a:t>
            </a:r>
            <a:r>
              <a:rPr lang="en-IN" sz="1600" dirty="0"/>
              <a:t>. </a:t>
            </a:r>
          </a:p>
          <a:p>
            <a:pPr lvl="0"/>
            <a:r>
              <a:rPr lang="en-IN" sz="1600" dirty="0"/>
              <a:t>Used to validate network connectivity and initial handover behaviour. </a:t>
            </a:r>
            <a:endParaRPr lang="en-IN" sz="1600" b="1" dirty="0"/>
          </a:p>
          <a:p>
            <a:r>
              <a:rPr lang="en-IN" sz="1600" b="1" dirty="0"/>
              <a:t>Phase 2 – 20 UEs</a:t>
            </a:r>
          </a:p>
          <a:p>
            <a:pPr lvl="0"/>
            <a:r>
              <a:rPr lang="en-IN" sz="1600" dirty="0"/>
              <a:t>Number of UEs increased from </a:t>
            </a:r>
            <a:r>
              <a:rPr lang="en-IN" sz="1600" b="1" dirty="0"/>
              <a:t>1 to 20</a:t>
            </a:r>
            <a:r>
              <a:rPr lang="en-IN" sz="1600" dirty="0"/>
              <a:t>. </a:t>
            </a:r>
          </a:p>
          <a:p>
            <a:pPr lvl="0"/>
            <a:r>
              <a:rPr lang="en-IN" sz="1600" dirty="0"/>
              <a:t>Each UE represents a passenger device inside the train. </a:t>
            </a:r>
          </a:p>
          <a:p>
            <a:pPr lvl="0"/>
            <a:r>
              <a:rPr lang="en-IN" sz="1600" dirty="0"/>
              <a:t>UEs initially arranged with </a:t>
            </a:r>
            <a:r>
              <a:rPr lang="en-IN" sz="1600" b="1" dirty="0"/>
              <a:t>1 m spacing</a:t>
            </a:r>
            <a:r>
              <a:rPr lang="en-IN" sz="1600" dirty="0"/>
              <a:t>, representing a </a:t>
            </a:r>
            <a:r>
              <a:rPr lang="en-IN" sz="1600" b="1" dirty="0"/>
              <a:t>20 m long train coach</a:t>
            </a:r>
            <a:r>
              <a:rPr lang="en-IN" sz="1600" dirty="0"/>
              <a:t>. </a:t>
            </a:r>
          </a:p>
          <a:p>
            <a:pPr lvl="0"/>
            <a:r>
              <a:rPr lang="en-IN" sz="1600" dirty="0"/>
              <a:t>Common mobility parameters were maintained for all UEs to emulate train movement. </a:t>
            </a:r>
            <a:endParaRPr lang="en-IN" sz="1600" b="1" dirty="0"/>
          </a:p>
          <a:p>
            <a:r>
              <a:rPr lang="en-IN" sz="1600" b="1" dirty="0"/>
              <a:t>Phase 3 – Co-located UE Evaluation</a:t>
            </a:r>
          </a:p>
          <a:p>
            <a:pPr lvl="0"/>
            <a:r>
              <a:rPr lang="en-IN" sz="1600" dirty="0"/>
              <a:t>All </a:t>
            </a:r>
            <a:r>
              <a:rPr lang="en-IN" sz="1600" b="1" dirty="0"/>
              <a:t>20 UEs</a:t>
            </a:r>
            <a:r>
              <a:rPr lang="en-IN" sz="1600" dirty="0"/>
              <a:t> were placed at the </a:t>
            </a:r>
            <a:r>
              <a:rPr lang="en-IN" sz="1600" b="1" dirty="0"/>
              <a:t>same location</a:t>
            </a:r>
            <a:r>
              <a:rPr lang="en-IN" sz="1600" dirty="0"/>
              <a:t>. </a:t>
            </a:r>
          </a:p>
          <a:p>
            <a:pPr lvl="0"/>
            <a:r>
              <a:rPr lang="en-IN" sz="1600" dirty="0"/>
              <a:t>Performed to observe network behaviour when multiple users simultaneously experience identical radio conditions. </a:t>
            </a:r>
          </a:p>
          <a:p>
            <a:pPr lvl="0"/>
            <a:r>
              <a:rPr lang="en-IN" sz="1600" dirty="0"/>
              <a:t>Used to evaluate traffic load and collective network performance.</a:t>
            </a:r>
          </a:p>
          <a:p>
            <a:endParaRPr lang="en-IN" dirty="0"/>
          </a:p>
        </p:txBody>
      </p:sp>
      <p:pic>
        <p:nvPicPr>
          <p:cNvPr id="7" name="Picture 6">
            <a:extLst>
              <a:ext uri="{FF2B5EF4-FFF2-40B4-BE49-F238E27FC236}">
                <a16:creationId xmlns:a16="http://schemas.microsoft.com/office/drawing/2014/main" id="{8FAA1C7B-B152-63E1-A7E2-87B9CA0664EA}"/>
              </a:ext>
            </a:extLst>
          </p:cNvPr>
          <p:cNvPicPr>
            <a:picLocks noChangeAspect="1"/>
          </p:cNvPicPr>
          <p:nvPr/>
        </p:nvPicPr>
        <p:blipFill>
          <a:blip r:embed="rId2"/>
          <a:stretch>
            <a:fillRect/>
          </a:stretch>
        </p:blipFill>
        <p:spPr>
          <a:xfrm>
            <a:off x="2102741" y="3932697"/>
            <a:ext cx="7986517" cy="2807965"/>
          </a:xfrm>
          <a:prstGeom prst="rect">
            <a:avLst/>
          </a:prstGeom>
        </p:spPr>
      </p:pic>
    </p:spTree>
    <p:extLst>
      <p:ext uri="{BB962C8B-B14F-4D97-AF65-F5344CB8AC3E}">
        <p14:creationId xmlns:p14="http://schemas.microsoft.com/office/powerpoint/2010/main" val="4148656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F5B053-137C-B23F-6C1A-CFCF2470CEBE}"/>
              </a:ext>
            </a:extLst>
          </p:cNvPr>
          <p:cNvSpPr txBox="1"/>
          <p:nvPr/>
        </p:nvSpPr>
        <p:spPr>
          <a:xfrm>
            <a:off x="276837" y="58723"/>
            <a:ext cx="5738069" cy="369332"/>
          </a:xfrm>
          <a:prstGeom prst="rect">
            <a:avLst/>
          </a:prstGeom>
          <a:noFill/>
        </p:spPr>
        <p:txBody>
          <a:bodyPr wrap="square" rtlCol="0">
            <a:spAutoFit/>
          </a:bodyPr>
          <a:lstStyle/>
          <a:p>
            <a:r>
              <a:rPr lang="en-IN" b="1" dirty="0"/>
              <a:t>Environment Setup Specifications</a:t>
            </a:r>
          </a:p>
        </p:txBody>
      </p:sp>
      <p:sp>
        <p:nvSpPr>
          <p:cNvPr id="4" name="TextBox 3">
            <a:extLst>
              <a:ext uri="{FF2B5EF4-FFF2-40B4-BE49-F238E27FC236}">
                <a16:creationId xmlns:a16="http://schemas.microsoft.com/office/drawing/2014/main" id="{3301D7BF-4458-DDB5-9B7D-4098ED679B58}"/>
              </a:ext>
            </a:extLst>
          </p:cNvPr>
          <p:cNvSpPr txBox="1"/>
          <p:nvPr/>
        </p:nvSpPr>
        <p:spPr>
          <a:xfrm>
            <a:off x="1142252" y="815888"/>
            <a:ext cx="4605406" cy="2031325"/>
          </a:xfrm>
          <a:prstGeom prst="rect">
            <a:avLst/>
          </a:prstGeom>
          <a:noFill/>
        </p:spPr>
        <p:txBody>
          <a:bodyPr wrap="square">
            <a:spAutoFit/>
          </a:bodyPr>
          <a:lstStyle/>
          <a:p>
            <a:pPr>
              <a:buNone/>
            </a:pPr>
            <a:r>
              <a:rPr lang="en-IN" b="1" dirty="0">
                <a:latin typeface="Arial" panose="020B0604020202020204" pitchFamily="34" charset="0"/>
                <a:cs typeface="Arial" panose="020B0604020202020204" pitchFamily="34" charset="0"/>
              </a:rPr>
              <a:t>Simulation Area</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mobility.constraintAreaMinX</a:t>
            </a:r>
            <a:r>
              <a:rPr lang="en-IN" dirty="0">
                <a:latin typeface="Arial" panose="020B0604020202020204" pitchFamily="34" charset="0"/>
                <a:cs typeface="Arial" panose="020B0604020202020204" pitchFamily="34" charset="0"/>
              </a:rPr>
              <a:t> = 0m</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mobility.constraintAreaMaxX</a:t>
            </a:r>
            <a:r>
              <a:rPr lang="en-IN" dirty="0">
                <a:latin typeface="Arial" panose="020B0604020202020204" pitchFamily="34" charset="0"/>
                <a:cs typeface="Arial" panose="020B0604020202020204" pitchFamily="34" charset="0"/>
              </a:rPr>
              <a:t> = 5000m</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mobility.constraintAreaMinY</a:t>
            </a:r>
            <a:r>
              <a:rPr lang="en-IN" dirty="0">
                <a:latin typeface="Arial" panose="020B0604020202020204" pitchFamily="34" charset="0"/>
                <a:cs typeface="Arial" panose="020B0604020202020204" pitchFamily="34" charset="0"/>
              </a:rPr>
              <a:t> = 300m</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mobility.constraintAreaMaxY</a:t>
            </a:r>
            <a:r>
              <a:rPr lang="en-IN" dirty="0">
                <a:latin typeface="Arial" panose="020B0604020202020204" pitchFamily="34" charset="0"/>
                <a:cs typeface="Arial" panose="020B0604020202020204" pitchFamily="34" charset="0"/>
              </a:rPr>
              <a:t> = 1200m</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mobility.constraintAreaMinZ</a:t>
            </a:r>
            <a:r>
              <a:rPr lang="en-IN" dirty="0">
                <a:latin typeface="Arial" panose="020B0604020202020204" pitchFamily="34" charset="0"/>
                <a:cs typeface="Arial" panose="020B0604020202020204" pitchFamily="34" charset="0"/>
              </a:rPr>
              <a:t> = 0m</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mobility.constraintAreaMaxZ</a:t>
            </a:r>
            <a:r>
              <a:rPr lang="en-IN" dirty="0">
                <a:latin typeface="Arial" panose="020B0604020202020204" pitchFamily="34" charset="0"/>
                <a:cs typeface="Arial" panose="020B0604020202020204" pitchFamily="34" charset="0"/>
              </a:rPr>
              <a:t> = 100m</a:t>
            </a:r>
          </a:p>
        </p:txBody>
      </p:sp>
      <p:sp>
        <p:nvSpPr>
          <p:cNvPr id="6" name="TextBox 5">
            <a:extLst>
              <a:ext uri="{FF2B5EF4-FFF2-40B4-BE49-F238E27FC236}">
                <a16:creationId xmlns:a16="http://schemas.microsoft.com/office/drawing/2014/main" id="{FAB5304E-A58D-4F3F-C6A3-3C6C6F598201}"/>
              </a:ext>
            </a:extLst>
          </p:cNvPr>
          <p:cNvSpPr txBox="1"/>
          <p:nvPr/>
        </p:nvSpPr>
        <p:spPr>
          <a:xfrm>
            <a:off x="6444344" y="815888"/>
            <a:ext cx="4041933" cy="2031325"/>
          </a:xfrm>
          <a:prstGeom prst="rect">
            <a:avLst/>
          </a:prstGeom>
          <a:noFill/>
        </p:spPr>
        <p:txBody>
          <a:bodyPr wrap="square">
            <a:spAutoFit/>
          </a:bodyPr>
          <a:lstStyle/>
          <a:p>
            <a:pPr>
              <a:buNone/>
            </a:pPr>
            <a:r>
              <a:rPr lang="en-IN" b="1" dirty="0">
                <a:latin typeface="Arial" panose="020B0604020202020204" pitchFamily="34" charset="0"/>
                <a:cs typeface="Arial" panose="020B0604020202020204" pitchFamily="34" charset="0"/>
              </a:rPr>
              <a:t>Carrier Configuration</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carrierAggregation.numComponentCarriers</a:t>
            </a:r>
            <a:r>
              <a:rPr lang="en-IN" dirty="0">
                <a:latin typeface="Arial" panose="020B0604020202020204" pitchFamily="34" charset="0"/>
                <a:cs typeface="Arial" panose="020B0604020202020204" pitchFamily="34" charset="0"/>
              </a:rPr>
              <a:t> = 1</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carrierAggregation.componentCarrier</a:t>
            </a:r>
            <a:r>
              <a:rPr lang="en-IN" dirty="0">
                <a:latin typeface="Arial" panose="020B0604020202020204" pitchFamily="34" charset="0"/>
                <a:cs typeface="Arial" panose="020B0604020202020204" pitchFamily="34" charset="0"/>
              </a:rPr>
              <a:t>[0].</a:t>
            </a:r>
            <a:r>
              <a:rPr lang="en-IN" dirty="0" err="1">
                <a:latin typeface="Arial" panose="020B0604020202020204" pitchFamily="34" charset="0"/>
                <a:cs typeface="Arial" panose="020B0604020202020204" pitchFamily="34" charset="0"/>
              </a:rPr>
              <a:t>carrierFrequency</a:t>
            </a:r>
            <a:r>
              <a:rPr lang="en-IN" dirty="0">
                <a:latin typeface="Arial" panose="020B0604020202020204" pitchFamily="34" charset="0"/>
                <a:cs typeface="Arial" panose="020B0604020202020204" pitchFamily="34" charset="0"/>
              </a:rPr>
              <a:t> = 3.5GHz</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carrierAggregation.componentCarrier</a:t>
            </a:r>
            <a:r>
              <a:rPr lang="en-IN" dirty="0">
                <a:latin typeface="Arial" panose="020B0604020202020204" pitchFamily="34" charset="0"/>
                <a:cs typeface="Arial" panose="020B0604020202020204" pitchFamily="34" charset="0"/>
              </a:rPr>
              <a:t>[0].</a:t>
            </a:r>
            <a:r>
              <a:rPr lang="en-IN" dirty="0" err="1">
                <a:latin typeface="Arial" panose="020B0604020202020204" pitchFamily="34" charset="0"/>
                <a:cs typeface="Arial" panose="020B0604020202020204" pitchFamily="34" charset="0"/>
              </a:rPr>
              <a:t>numBands</a:t>
            </a:r>
            <a:r>
              <a:rPr lang="en-IN" dirty="0">
                <a:latin typeface="Arial" panose="020B0604020202020204" pitchFamily="34" charset="0"/>
                <a:cs typeface="Arial" panose="020B0604020202020204" pitchFamily="34" charset="0"/>
              </a:rPr>
              <a:t> = 50</a:t>
            </a:r>
          </a:p>
        </p:txBody>
      </p:sp>
      <p:sp>
        <p:nvSpPr>
          <p:cNvPr id="8" name="TextBox 7">
            <a:extLst>
              <a:ext uri="{FF2B5EF4-FFF2-40B4-BE49-F238E27FC236}">
                <a16:creationId xmlns:a16="http://schemas.microsoft.com/office/drawing/2014/main" id="{CAC32195-981D-4FBF-C1DA-B2E92E736AFE}"/>
              </a:ext>
            </a:extLst>
          </p:cNvPr>
          <p:cNvSpPr txBox="1"/>
          <p:nvPr/>
        </p:nvSpPr>
        <p:spPr>
          <a:xfrm>
            <a:off x="1341901" y="3176315"/>
            <a:ext cx="3968592" cy="2585323"/>
          </a:xfrm>
          <a:prstGeom prst="rect">
            <a:avLst/>
          </a:prstGeom>
          <a:noFill/>
        </p:spPr>
        <p:txBody>
          <a:bodyPr wrap="square">
            <a:spAutoFit/>
          </a:bodyPr>
          <a:lstStyle/>
          <a:p>
            <a:pPr>
              <a:buNone/>
            </a:pPr>
            <a:r>
              <a:rPr lang="en-IN" b="1" dirty="0">
                <a:latin typeface="Arial" panose="020B0604020202020204" pitchFamily="34" charset="0"/>
                <a:cs typeface="Arial" panose="020B0604020202020204" pitchFamily="34" charset="0"/>
              </a:rPr>
              <a:t>gNB Deployment</a:t>
            </a:r>
          </a:p>
          <a:p>
            <a:pPr rtl="0">
              <a:buNone/>
            </a:pPr>
            <a:r>
              <a:rPr lang="en-IN" dirty="0">
                <a:latin typeface="Arial" panose="020B0604020202020204" pitchFamily="34" charset="0"/>
                <a:cs typeface="Arial" panose="020B0604020202020204" pitchFamily="34" charset="0"/>
              </a:rPr>
              <a:t>*.gnb1.mobility.initialX = 250m</a:t>
            </a:r>
          </a:p>
          <a:p>
            <a:pPr rtl="0">
              <a:buNone/>
            </a:pPr>
            <a:r>
              <a:rPr lang="en-IN" dirty="0">
                <a:latin typeface="Arial" panose="020B0604020202020204" pitchFamily="34" charset="0"/>
                <a:cs typeface="Arial" panose="020B0604020202020204" pitchFamily="34" charset="0"/>
              </a:rPr>
              <a:t>*.gnb2.mobility.initialX = 750m</a:t>
            </a:r>
          </a:p>
          <a:p>
            <a:pPr rtl="0">
              <a:buNone/>
            </a:pPr>
            <a:r>
              <a:rPr lang="en-IN" dirty="0">
                <a:latin typeface="Arial" panose="020B0604020202020204" pitchFamily="34" charset="0"/>
                <a:cs typeface="Arial" panose="020B0604020202020204" pitchFamily="34" charset="0"/>
              </a:rPr>
              <a:t>*.gnb3.mobility.initialX = 1250m</a:t>
            </a:r>
          </a:p>
          <a:p>
            <a:pPr rtl="0">
              <a:buNone/>
            </a:pPr>
            <a:r>
              <a:rPr lang="en-IN" dirty="0">
                <a:latin typeface="Arial" panose="020B0604020202020204" pitchFamily="34" charset="0"/>
                <a:cs typeface="Arial" panose="020B0604020202020204" pitchFamily="34" charset="0"/>
              </a:rPr>
              <a:t>...</a:t>
            </a:r>
          </a:p>
          <a:p>
            <a:pPr rtl="0">
              <a:buNone/>
            </a:pPr>
            <a:r>
              <a:rPr lang="en-IN" dirty="0">
                <a:latin typeface="Arial" panose="020B0604020202020204" pitchFamily="34" charset="0"/>
                <a:cs typeface="Arial" panose="020B0604020202020204" pitchFamily="34" charset="0"/>
              </a:rPr>
              <a:t>*.gnb10.mobility.initialX = 4750m</a:t>
            </a:r>
          </a:p>
          <a:p>
            <a:pPr rtl="0">
              <a:buNone/>
            </a:pPr>
            <a:endParaRPr lang="en-IN" dirty="0">
              <a:latin typeface="Arial" panose="020B0604020202020204" pitchFamily="34" charset="0"/>
              <a:cs typeface="Arial" panose="020B0604020202020204" pitchFamily="34" charset="0"/>
            </a:endParaRP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gnb</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mobility.initialY</a:t>
            </a:r>
            <a:r>
              <a:rPr lang="en-IN" dirty="0">
                <a:latin typeface="Arial" panose="020B0604020202020204" pitchFamily="34" charset="0"/>
                <a:cs typeface="Arial" panose="020B0604020202020204" pitchFamily="34" charset="0"/>
              </a:rPr>
              <a:t> = 500m</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gnb</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mobility.initialZ</a:t>
            </a:r>
            <a:r>
              <a:rPr lang="en-IN" dirty="0">
                <a:latin typeface="Arial" panose="020B0604020202020204" pitchFamily="34" charset="0"/>
                <a:cs typeface="Arial" panose="020B0604020202020204" pitchFamily="34" charset="0"/>
              </a:rPr>
              <a:t> = 35m</a:t>
            </a:r>
          </a:p>
        </p:txBody>
      </p:sp>
      <p:sp>
        <p:nvSpPr>
          <p:cNvPr id="10" name="TextBox 9">
            <a:extLst>
              <a:ext uri="{FF2B5EF4-FFF2-40B4-BE49-F238E27FC236}">
                <a16:creationId xmlns:a16="http://schemas.microsoft.com/office/drawing/2014/main" id="{6EF14C8F-CF9A-05C4-7D3B-9F2D56FC469A}"/>
              </a:ext>
            </a:extLst>
          </p:cNvPr>
          <p:cNvSpPr txBox="1"/>
          <p:nvPr/>
        </p:nvSpPr>
        <p:spPr>
          <a:xfrm>
            <a:off x="6530373" y="3176315"/>
            <a:ext cx="3968592" cy="2862322"/>
          </a:xfrm>
          <a:prstGeom prst="rect">
            <a:avLst/>
          </a:prstGeom>
          <a:noFill/>
        </p:spPr>
        <p:txBody>
          <a:bodyPr wrap="square">
            <a:spAutoFit/>
          </a:bodyPr>
          <a:lstStyle/>
          <a:p>
            <a:pPr>
              <a:buNone/>
            </a:pPr>
            <a:r>
              <a:rPr lang="en-IN" b="1" dirty="0">
                <a:latin typeface="Arial" panose="020B0604020202020204" pitchFamily="34" charset="0"/>
                <a:cs typeface="Arial" panose="020B0604020202020204" pitchFamily="34" charset="0"/>
              </a:rPr>
              <a:t>X2 Connectivity</a:t>
            </a:r>
          </a:p>
          <a:p>
            <a:pPr rtl="0">
              <a:buNone/>
            </a:pPr>
            <a:r>
              <a:rPr lang="en-IN" dirty="0">
                <a:latin typeface="Arial" panose="020B0604020202020204" pitchFamily="34" charset="0"/>
                <a:cs typeface="Arial" panose="020B0604020202020204" pitchFamily="34" charset="0"/>
              </a:rPr>
              <a:t>*.gnb1.numX2Apps = 1</a:t>
            </a:r>
          </a:p>
          <a:p>
            <a:pPr rtl="0">
              <a:buNone/>
            </a:pPr>
            <a:r>
              <a:rPr lang="en-IN" dirty="0">
                <a:latin typeface="Arial" panose="020B0604020202020204" pitchFamily="34" charset="0"/>
                <a:cs typeface="Arial" panose="020B0604020202020204" pitchFamily="34" charset="0"/>
              </a:rPr>
              <a:t>*.gnb2.numX2Apps = 2</a:t>
            </a:r>
          </a:p>
          <a:p>
            <a:r>
              <a:rPr lang="en-IN" dirty="0">
                <a:latin typeface="Arial" panose="020B0604020202020204" pitchFamily="34" charset="0"/>
                <a:cs typeface="Arial" panose="020B0604020202020204" pitchFamily="34" charset="0"/>
              </a:rPr>
              <a:t>*.gnb3.numX2Apps = 2</a:t>
            </a:r>
          </a:p>
          <a:p>
            <a:r>
              <a:rPr lang="en-IN" dirty="0">
                <a:latin typeface="Arial" panose="020B0604020202020204" pitchFamily="34" charset="0"/>
                <a:cs typeface="Arial" panose="020B0604020202020204" pitchFamily="34" charset="0"/>
              </a:rPr>
              <a:t>*.gnb4.numX2Apps = 2</a:t>
            </a:r>
          </a:p>
          <a:p>
            <a:r>
              <a:rPr lang="en-IN" dirty="0">
                <a:latin typeface="Arial" panose="020B0604020202020204" pitchFamily="34" charset="0"/>
                <a:cs typeface="Arial" panose="020B0604020202020204" pitchFamily="34" charset="0"/>
              </a:rPr>
              <a:t>*.gnb5.numX2Apps = 2</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*.gnb10.numX2Apps = 1</a:t>
            </a:r>
          </a:p>
        </p:txBody>
      </p:sp>
    </p:spTree>
    <p:extLst>
      <p:ext uri="{BB962C8B-B14F-4D97-AF65-F5344CB8AC3E}">
        <p14:creationId xmlns:p14="http://schemas.microsoft.com/office/powerpoint/2010/main" val="3687100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426609-3AC1-14C9-5F97-E6AB303712F8}"/>
              </a:ext>
            </a:extLst>
          </p:cNvPr>
          <p:cNvSpPr txBox="1"/>
          <p:nvPr/>
        </p:nvSpPr>
        <p:spPr>
          <a:xfrm>
            <a:off x="763359" y="334559"/>
            <a:ext cx="3841296" cy="2308324"/>
          </a:xfrm>
          <a:prstGeom prst="rect">
            <a:avLst/>
          </a:prstGeom>
          <a:noFill/>
        </p:spPr>
        <p:txBody>
          <a:bodyPr wrap="square">
            <a:spAutoFit/>
          </a:bodyPr>
          <a:lstStyle/>
          <a:p>
            <a:pPr>
              <a:buNone/>
            </a:pPr>
            <a:r>
              <a:rPr lang="en-IN" b="1" dirty="0">
                <a:latin typeface="Arial" panose="020B0604020202020204" pitchFamily="34" charset="0"/>
                <a:cs typeface="Arial" panose="020B0604020202020204" pitchFamily="34" charset="0"/>
              </a:rPr>
              <a:t>UE Configuration</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numUe</a:t>
            </a:r>
            <a:r>
              <a:rPr lang="en-IN" dirty="0">
                <a:latin typeface="Arial" panose="020B0604020202020204" pitchFamily="34" charset="0"/>
                <a:cs typeface="Arial" panose="020B0604020202020204" pitchFamily="34" charset="0"/>
              </a:rPr>
              <a:t> = 20</a:t>
            </a:r>
          </a:p>
          <a:p>
            <a:pPr rtl="0">
              <a:buNone/>
            </a:pPr>
            <a:endParaRPr lang="en-IN" dirty="0">
              <a:latin typeface="Arial" panose="020B0604020202020204" pitchFamily="34" charset="0"/>
              <a:cs typeface="Arial" panose="020B0604020202020204" pitchFamily="34" charset="0"/>
            </a:endParaRP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servingNodeId</a:t>
            </a:r>
            <a:r>
              <a:rPr lang="en-IN" dirty="0">
                <a:latin typeface="Arial" panose="020B0604020202020204" pitchFamily="34" charset="0"/>
                <a:cs typeface="Arial" panose="020B0604020202020204" pitchFamily="34" charset="0"/>
              </a:rPr>
              <a:t> = 0</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nrServingNodeId</a:t>
            </a:r>
            <a:r>
              <a:rPr lang="en-IN" dirty="0">
                <a:latin typeface="Arial" panose="020B0604020202020204" pitchFamily="34" charset="0"/>
                <a:cs typeface="Arial" panose="020B0604020202020204" pitchFamily="34" charset="0"/>
              </a:rPr>
              <a:t> = 1</a:t>
            </a:r>
          </a:p>
          <a:p>
            <a:pPr rtl="0">
              <a:buNone/>
            </a:pPr>
            <a:endParaRPr lang="en-IN" dirty="0">
              <a:latin typeface="Arial" panose="020B0604020202020204" pitchFamily="34" charset="0"/>
              <a:cs typeface="Arial" panose="020B0604020202020204" pitchFamily="34" charset="0"/>
            </a:endParaRP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dynamicCellAssociation</a:t>
            </a:r>
            <a:r>
              <a:rPr lang="en-IN" dirty="0">
                <a:latin typeface="Arial" panose="020B0604020202020204" pitchFamily="34" charset="0"/>
                <a:cs typeface="Arial" panose="020B0604020202020204" pitchFamily="34" charset="0"/>
              </a:rPr>
              <a:t> = true</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enableHandover</a:t>
            </a:r>
            <a:r>
              <a:rPr lang="en-IN" dirty="0">
                <a:latin typeface="Arial" panose="020B0604020202020204" pitchFamily="34" charset="0"/>
                <a:cs typeface="Arial" panose="020B0604020202020204" pitchFamily="34" charset="0"/>
              </a:rPr>
              <a:t> = true</a:t>
            </a:r>
          </a:p>
        </p:txBody>
      </p:sp>
      <p:sp>
        <p:nvSpPr>
          <p:cNvPr id="5" name="TextBox 4">
            <a:extLst>
              <a:ext uri="{FF2B5EF4-FFF2-40B4-BE49-F238E27FC236}">
                <a16:creationId xmlns:a16="http://schemas.microsoft.com/office/drawing/2014/main" id="{028EFCED-5235-EAF1-B0BE-5A53EAEDA834}"/>
              </a:ext>
            </a:extLst>
          </p:cNvPr>
          <p:cNvSpPr txBox="1"/>
          <p:nvPr/>
        </p:nvSpPr>
        <p:spPr>
          <a:xfrm>
            <a:off x="763359" y="3105834"/>
            <a:ext cx="4380139" cy="1200329"/>
          </a:xfrm>
          <a:prstGeom prst="rect">
            <a:avLst/>
          </a:prstGeom>
          <a:noFill/>
        </p:spPr>
        <p:txBody>
          <a:bodyPr wrap="square">
            <a:spAutoFit/>
          </a:bodyPr>
          <a:lstStyle/>
          <a:p>
            <a:pPr>
              <a:buNone/>
            </a:pPr>
            <a:r>
              <a:rPr lang="en-IN" b="1" dirty="0">
                <a:latin typeface="Arial" panose="020B0604020202020204" pitchFamily="34" charset="0"/>
                <a:cs typeface="Arial" panose="020B0604020202020204" pitchFamily="34" charset="0"/>
              </a:rPr>
              <a:t>Handover Parameters</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cellularNic.nrPhy.timeToTrigger</a:t>
            </a:r>
            <a:r>
              <a:rPr lang="en-IN" dirty="0">
                <a:latin typeface="Arial" panose="020B0604020202020204" pitchFamily="34" charset="0"/>
                <a:cs typeface="Arial" panose="020B0604020202020204" pitchFamily="34" charset="0"/>
              </a:rPr>
              <a:t> = 80ms</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cellularNic.nrPhy.hysteresis</a:t>
            </a:r>
            <a:r>
              <a:rPr lang="en-IN" dirty="0">
                <a:latin typeface="Arial" panose="020B0604020202020204" pitchFamily="34" charset="0"/>
                <a:cs typeface="Arial" panose="020B0604020202020204" pitchFamily="34" charset="0"/>
              </a:rPr>
              <a:t> = 2dB</a:t>
            </a:r>
          </a:p>
        </p:txBody>
      </p:sp>
      <p:sp>
        <p:nvSpPr>
          <p:cNvPr id="7" name="TextBox 6">
            <a:extLst>
              <a:ext uri="{FF2B5EF4-FFF2-40B4-BE49-F238E27FC236}">
                <a16:creationId xmlns:a16="http://schemas.microsoft.com/office/drawing/2014/main" id="{B3D99F81-CA25-2D1B-72B1-AAD0E0CC0565}"/>
              </a:ext>
            </a:extLst>
          </p:cNvPr>
          <p:cNvSpPr txBox="1"/>
          <p:nvPr/>
        </p:nvSpPr>
        <p:spPr>
          <a:xfrm>
            <a:off x="6080350" y="334559"/>
            <a:ext cx="5229225" cy="2308324"/>
          </a:xfrm>
          <a:prstGeom prst="rect">
            <a:avLst/>
          </a:prstGeom>
          <a:noFill/>
        </p:spPr>
        <p:txBody>
          <a:bodyPr wrap="square">
            <a:spAutoFit/>
          </a:bodyPr>
          <a:lstStyle/>
          <a:p>
            <a:pPr>
              <a:buNone/>
            </a:pPr>
            <a:r>
              <a:rPr lang="en-IN" b="1" dirty="0">
                <a:latin typeface="Arial" panose="020B0604020202020204" pitchFamily="34" charset="0"/>
                <a:cs typeface="Arial" panose="020B0604020202020204" pitchFamily="34" charset="0"/>
              </a:rPr>
              <a:t>Train Mobility</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mobility.typename</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LinearMobility</a:t>
            </a:r>
            <a:r>
              <a:rPr lang="en-IN" dirty="0">
                <a:latin typeface="Arial" panose="020B0604020202020204" pitchFamily="34" charset="0"/>
                <a:cs typeface="Arial" panose="020B0604020202020204" pitchFamily="34" charset="0"/>
              </a:rPr>
              <a:t>"</a:t>
            </a:r>
          </a:p>
          <a:p>
            <a:pPr rtl="0">
              <a:buNone/>
            </a:pPr>
            <a:endParaRPr lang="en-IN" dirty="0">
              <a:latin typeface="Arial" panose="020B0604020202020204" pitchFamily="34" charset="0"/>
              <a:cs typeface="Arial" panose="020B0604020202020204" pitchFamily="34" charset="0"/>
            </a:endParaRP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mobility.initialX</a:t>
            </a:r>
            <a:r>
              <a:rPr lang="en-IN" dirty="0">
                <a:latin typeface="Arial" panose="020B0604020202020204" pitchFamily="34" charset="0"/>
                <a:cs typeface="Arial" panose="020B0604020202020204" pitchFamily="34" charset="0"/>
              </a:rPr>
              <a:t> = 0m</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mobility.initialY</a:t>
            </a:r>
            <a:r>
              <a:rPr lang="en-IN" dirty="0">
                <a:latin typeface="Arial" panose="020B0604020202020204" pitchFamily="34" charset="0"/>
                <a:cs typeface="Arial" panose="020B0604020202020204" pitchFamily="34" charset="0"/>
              </a:rPr>
              <a:t> = 500m</a:t>
            </a:r>
          </a:p>
          <a:p>
            <a:pPr rtl="0">
              <a:buNone/>
            </a:pPr>
            <a:endParaRPr lang="en-IN" dirty="0">
              <a:latin typeface="Arial" panose="020B0604020202020204" pitchFamily="34" charset="0"/>
              <a:cs typeface="Arial" panose="020B0604020202020204" pitchFamily="34" charset="0"/>
            </a:endParaRP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mobility.speed</a:t>
            </a:r>
            <a:r>
              <a:rPr lang="en-IN" dirty="0">
                <a:latin typeface="Arial" panose="020B0604020202020204" pitchFamily="34" charset="0"/>
                <a:cs typeface="Arial" panose="020B0604020202020204" pitchFamily="34" charset="0"/>
              </a:rPr>
              <a:t> = 138.89mps</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mobility.initialMovementHeading</a:t>
            </a:r>
            <a:r>
              <a:rPr lang="en-IN" dirty="0">
                <a:latin typeface="Arial" panose="020B0604020202020204" pitchFamily="34" charset="0"/>
                <a:cs typeface="Arial" panose="020B0604020202020204" pitchFamily="34" charset="0"/>
              </a:rPr>
              <a:t> = 0deg</a:t>
            </a:r>
          </a:p>
        </p:txBody>
      </p:sp>
      <p:sp>
        <p:nvSpPr>
          <p:cNvPr id="9" name="TextBox 8">
            <a:extLst>
              <a:ext uri="{FF2B5EF4-FFF2-40B4-BE49-F238E27FC236}">
                <a16:creationId xmlns:a16="http://schemas.microsoft.com/office/drawing/2014/main" id="{7650B023-45BE-86C0-F3DC-E755B903F89A}"/>
              </a:ext>
            </a:extLst>
          </p:cNvPr>
          <p:cNvSpPr txBox="1"/>
          <p:nvPr/>
        </p:nvSpPr>
        <p:spPr>
          <a:xfrm>
            <a:off x="763359" y="4769114"/>
            <a:ext cx="4380139" cy="1754326"/>
          </a:xfrm>
          <a:prstGeom prst="rect">
            <a:avLst/>
          </a:prstGeom>
          <a:noFill/>
        </p:spPr>
        <p:txBody>
          <a:bodyPr wrap="square">
            <a:spAutoFit/>
          </a:bodyPr>
          <a:lstStyle/>
          <a:p>
            <a:pPr>
              <a:buNone/>
            </a:pPr>
            <a:r>
              <a:rPr lang="en-IN" b="1" dirty="0">
                <a:latin typeface="Arial" panose="020B0604020202020204" pitchFamily="34" charset="0"/>
                <a:cs typeface="Arial" panose="020B0604020202020204" pitchFamily="34" charset="0"/>
              </a:rPr>
              <a:t>UDP Traffic Configuration</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server.app</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typename</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CbrSender</a:t>
            </a:r>
            <a:r>
              <a:rPr lang="en-IN" dirty="0">
                <a:latin typeface="Arial" panose="020B0604020202020204" pitchFamily="34" charset="0"/>
                <a:cs typeface="Arial" panose="020B0604020202020204" pitchFamily="34" charset="0"/>
              </a:rPr>
              <a:t>"</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server.app</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packetSize</a:t>
            </a:r>
            <a:r>
              <a:rPr lang="en-IN" dirty="0">
                <a:latin typeface="Arial" panose="020B0604020202020204" pitchFamily="34" charset="0"/>
                <a:cs typeface="Arial" panose="020B0604020202020204" pitchFamily="34" charset="0"/>
              </a:rPr>
              <a:t> = 100B</a:t>
            </a: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server.app</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samplingTime</a:t>
            </a:r>
            <a:r>
              <a:rPr lang="en-IN" dirty="0">
                <a:latin typeface="Arial" panose="020B0604020202020204" pitchFamily="34" charset="0"/>
                <a:cs typeface="Arial" panose="020B0604020202020204" pitchFamily="34" charset="0"/>
              </a:rPr>
              <a:t> = 0.01s</a:t>
            </a:r>
          </a:p>
          <a:p>
            <a:pPr rtl="0">
              <a:buNone/>
            </a:pPr>
            <a:endParaRPr lang="en-IN" dirty="0">
              <a:latin typeface="Arial" panose="020B0604020202020204" pitchFamily="34" charset="0"/>
              <a:cs typeface="Arial" panose="020B0604020202020204" pitchFamily="34" charset="0"/>
            </a:endParaRPr>
          </a:p>
          <a:p>
            <a:pPr rtl="0">
              <a:buNone/>
            </a:pP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ue</a:t>
            </a:r>
            <a:r>
              <a:rPr lang="en-IN" dirty="0">
                <a:latin typeface="Arial" panose="020B0604020202020204" pitchFamily="34" charset="0"/>
                <a:cs typeface="Arial" panose="020B0604020202020204" pitchFamily="34" charset="0"/>
              </a:rPr>
              <a:t>[*].app[*].</a:t>
            </a:r>
            <a:r>
              <a:rPr lang="en-IN" dirty="0" err="1">
                <a:latin typeface="Arial" panose="020B0604020202020204" pitchFamily="34" charset="0"/>
                <a:cs typeface="Arial" panose="020B0604020202020204" pitchFamily="34" charset="0"/>
              </a:rPr>
              <a:t>typename</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CbrReceiver</a:t>
            </a:r>
            <a:r>
              <a:rPr lang="en-IN" dirty="0">
                <a:latin typeface="Arial" panose="020B0604020202020204" pitchFamily="34" charset="0"/>
                <a:cs typeface="Arial" panose="020B0604020202020204" pitchFamily="34" charset="0"/>
              </a:rPr>
              <a:t>"</a:t>
            </a:r>
          </a:p>
        </p:txBody>
      </p:sp>
      <p:sp>
        <p:nvSpPr>
          <p:cNvPr id="12" name="TextBox 11">
            <a:extLst>
              <a:ext uri="{FF2B5EF4-FFF2-40B4-BE49-F238E27FC236}">
                <a16:creationId xmlns:a16="http://schemas.microsoft.com/office/drawing/2014/main" id="{40470652-6936-77A1-EF7F-4BF94840CEB1}"/>
              </a:ext>
            </a:extLst>
          </p:cNvPr>
          <p:cNvSpPr txBox="1"/>
          <p:nvPr/>
        </p:nvSpPr>
        <p:spPr>
          <a:xfrm>
            <a:off x="6080350" y="3337953"/>
            <a:ext cx="5823179" cy="2862322"/>
          </a:xfrm>
          <a:prstGeom prst="rect">
            <a:avLst/>
          </a:prstGeom>
          <a:noFill/>
        </p:spPr>
        <p:txBody>
          <a:bodyPr wrap="square">
            <a:spAutoFit/>
          </a:bodyPr>
          <a:lstStyle/>
          <a:p>
            <a:pPr>
              <a:buNone/>
            </a:pPr>
            <a:r>
              <a:rPr lang="en-IN" b="1" dirty="0">
                <a:latin typeface="Arial" panose="020B0604020202020204" pitchFamily="34" charset="0"/>
                <a:cs typeface="Arial" panose="020B0604020202020204" pitchFamily="34" charset="0"/>
              </a:rPr>
              <a:t>Statistics Recording</a:t>
            </a:r>
          </a:p>
          <a:p>
            <a:pPr rtl="0">
              <a:buNone/>
            </a:pPr>
            <a:r>
              <a:rPr lang="en-IN" dirty="0">
                <a:latin typeface="Arial" panose="020B0604020202020204" pitchFamily="34" charset="0"/>
                <a:cs typeface="Arial" panose="020B0604020202020204" pitchFamily="34" charset="0"/>
              </a:rPr>
              <a:t>output-scalar-file = ${</a:t>
            </a:r>
            <a:r>
              <a:rPr lang="en-IN" dirty="0" err="1">
                <a:latin typeface="Arial" panose="020B0604020202020204" pitchFamily="34" charset="0"/>
                <a:cs typeface="Arial" panose="020B0604020202020204" pitchFamily="34" charset="0"/>
              </a:rPr>
              <a:t>resultdir</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configname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iterationvars</a:t>
            </a:r>
            <a:r>
              <a:rPr lang="en-IN" dirty="0">
                <a:latin typeface="Arial" panose="020B0604020202020204" pitchFamily="34" charset="0"/>
                <a:cs typeface="Arial" panose="020B0604020202020204" pitchFamily="34" charset="0"/>
              </a:rPr>
              <a:t>}-${repetition}.</a:t>
            </a:r>
            <a:r>
              <a:rPr lang="en-IN" dirty="0" err="1">
                <a:latin typeface="Arial" panose="020B0604020202020204" pitchFamily="34" charset="0"/>
                <a:cs typeface="Arial" panose="020B0604020202020204" pitchFamily="34" charset="0"/>
              </a:rPr>
              <a:t>sca</a:t>
            </a:r>
            <a:endParaRPr lang="en-IN" dirty="0">
              <a:latin typeface="Arial" panose="020B0604020202020204" pitchFamily="34" charset="0"/>
              <a:cs typeface="Arial" panose="020B0604020202020204" pitchFamily="34" charset="0"/>
            </a:endParaRPr>
          </a:p>
          <a:p>
            <a:pPr rtl="0">
              <a:buNone/>
            </a:pPr>
            <a:r>
              <a:rPr lang="en-IN" dirty="0">
                <a:latin typeface="Arial" panose="020B0604020202020204" pitchFamily="34" charset="0"/>
                <a:cs typeface="Arial" panose="020B0604020202020204" pitchFamily="34" charset="0"/>
              </a:rPr>
              <a:t>output-vector-file = ${</a:t>
            </a:r>
            <a:r>
              <a:rPr lang="en-IN" dirty="0" err="1">
                <a:latin typeface="Arial" panose="020B0604020202020204" pitchFamily="34" charset="0"/>
                <a:cs typeface="Arial" panose="020B0604020202020204" pitchFamily="34" charset="0"/>
              </a:rPr>
              <a:t>resultdir</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configname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iterationvars</a:t>
            </a:r>
            <a:r>
              <a:rPr lang="en-IN" dirty="0">
                <a:latin typeface="Arial" panose="020B0604020202020204" pitchFamily="34" charset="0"/>
                <a:cs typeface="Arial" panose="020B0604020202020204" pitchFamily="34" charset="0"/>
              </a:rPr>
              <a:t>}-${repetition}.</a:t>
            </a:r>
            <a:r>
              <a:rPr lang="en-IN" dirty="0" err="1">
                <a:latin typeface="Arial" panose="020B0604020202020204" pitchFamily="34" charset="0"/>
                <a:cs typeface="Arial" panose="020B0604020202020204" pitchFamily="34" charset="0"/>
              </a:rPr>
              <a:t>vec</a:t>
            </a:r>
            <a:endParaRPr lang="en-IN" dirty="0">
              <a:latin typeface="Arial" panose="020B0604020202020204" pitchFamily="34" charset="0"/>
              <a:cs typeface="Arial" panose="020B0604020202020204" pitchFamily="34" charset="0"/>
            </a:endParaRPr>
          </a:p>
          <a:p>
            <a:pPr rtl="0">
              <a:buNone/>
            </a:pPr>
            <a:endParaRPr lang="en-IN" dirty="0">
              <a:latin typeface="Arial" panose="020B0604020202020204" pitchFamily="34" charset="0"/>
              <a:cs typeface="Arial" panose="020B0604020202020204" pitchFamily="34" charset="0"/>
            </a:endParaRPr>
          </a:p>
          <a:p>
            <a:pPr rtl="0">
              <a:buNone/>
            </a:pPr>
            <a:r>
              <a:rPr lang="en-IN" dirty="0">
                <a:latin typeface="Arial" panose="020B0604020202020204" pitchFamily="34" charset="0"/>
                <a:cs typeface="Arial" panose="020B0604020202020204" pitchFamily="34" charset="0"/>
              </a:rPr>
              <a:t>**.scalar-recording = true</a:t>
            </a:r>
          </a:p>
          <a:p>
            <a:pPr rtl="0">
              <a:buNone/>
            </a:pPr>
            <a:r>
              <a:rPr lang="en-IN" dirty="0">
                <a:latin typeface="Arial" panose="020B0604020202020204" pitchFamily="34" charset="0"/>
                <a:cs typeface="Arial" panose="020B0604020202020204" pitchFamily="34" charset="0"/>
              </a:rPr>
              <a:t>**.vector-recording = true</a:t>
            </a:r>
          </a:p>
        </p:txBody>
      </p:sp>
    </p:spTree>
    <p:extLst>
      <p:ext uri="{BB962C8B-B14F-4D97-AF65-F5344CB8AC3E}">
        <p14:creationId xmlns:p14="http://schemas.microsoft.com/office/powerpoint/2010/main" val="157596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892B99-4DCA-1A07-EB24-02C250C9B8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0510"/>
            <a:ext cx="7474592" cy="4983061"/>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492D8C7-C434-8B40-221A-A22C0BA39CAD}"/>
                  </a:ext>
                </a:extLst>
              </p:cNvPr>
              <p:cNvSpPr txBox="1"/>
              <p:nvPr/>
            </p:nvSpPr>
            <p:spPr>
              <a:xfrm>
                <a:off x="7474592" y="1044429"/>
                <a:ext cx="4586681" cy="4801314"/>
              </a:xfrm>
              <a:prstGeom prst="rect">
                <a:avLst/>
              </a:prstGeom>
              <a:noFill/>
            </p:spPr>
            <p:txBody>
              <a:bodyPr wrap="square">
                <a:spAutoFit/>
              </a:bodyPr>
              <a:lstStyle/>
              <a:p>
                <a:pPr>
                  <a:buNone/>
                </a:pPr>
                <a:r>
                  <a:rPr lang="en-IN" dirty="0"/>
                  <a:t>The selected experimental variables were:</a:t>
                </a:r>
              </a:p>
              <a:p>
                <a:pPr marL="342900" lvl="0" indent="-342900">
                  <a:buFont typeface="Arial" panose="020B0604020202020204" pitchFamily="34" charset="0"/>
                  <a:buChar char="•"/>
                </a:pPr>
                <a:r>
                  <a:rPr lang="en-IN" b="1" dirty="0"/>
                  <a:t>Train Speeds:</a:t>
                </a:r>
                <a:r>
                  <a:rPr lang="en-IN" dirty="0"/>
                  <a:t> 6 values (500, 600, 700, 800, 900, and 1000 km/h) </a:t>
                </a:r>
              </a:p>
              <a:p>
                <a:pPr marL="342900" lvl="0" indent="-342900">
                  <a:buFont typeface="Arial" panose="020B0604020202020204" pitchFamily="34" charset="0"/>
                  <a:buChar char="•"/>
                </a:pPr>
                <a:r>
                  <a:rPr lang="en-IN" b="1" dirty="0"/>
                  <a:t>TTT Values:</a:t>
                </a:r>
                <a:r>
                  <a:rPr lang="en-IN" dirty="0"/>
                  <a:t> 5 values (80, 100, 128, 160, and 256 </a:t>
                </a:r>
                <a:r>
                  <a:rPr lang="en-IN" dirty="0" err="1"/>
                  <a:t>ms</a:t>
                </a:r>
                <a:r>
                  <a:rPr lang="en-IN" dirty="0"/>
                  <a:t>) </a:t>
                </a:r>
              </a:p>
              <a:p>
                <a:pPr marL="342900" lvl="0" indent="-342900">
                  <a:buFont typeface="Arial" panose="020B0604020202020204" pitchFamily="34" charset="0"/>
                  <a:buChar char="•"/>
                </a:pPr>
                <a:r>
                  <a:rPr lang="en-IN" b="1" dirty="0"/>
                  <a:t>Hysteresis Values:</a:t>
                </a:r>
                <a:r>
                  <a:rPr lang="en-IN" dirty="0"/>
                  <a:t> 5 values (2, 2.5, 3, 3.5, and 4 dB) </a:t>
                </a:r>
              </a:p>
              <a:p>
                <a:pPr marL="342900" lvl="0" indent="-342900">
                  <a:buFont typeface="Arial" panose="020B0604020202020204" pitchFamily="34" charset="0"/>
                  <a:buChar char="•"/>
                </a:pPr>
                <a:endParaRPr lang="en-IN" dirty="0"/>
              </a:p>
              <a:p>
                <a:pPr>
                  <a:buNone/>
                </a:pPr>
                <a:r>
                  <a:rPr lang="en-IN" dirty="0"/>
                  <a:t>This results in the following experimental matrix:</a:t>
                </a:r>
              </a:p>
              <a:p>
                <a:pPr>
                  <a:buNone/>
                </a:pPr>
                <a14:m>
                  <m:oMathPara xmlns:m="http://schemas.openxmlformats.org/officeDocument/2006/math">
                    <m:oMath>
                      <m:r>
                        <a:rPr lang="en-IN" b="1" i="1">
                          <a:latin typeface="Cambria Math" panose="02040503050406030204" pitchFamily="18" charset="0"/>
                        </a:rPr>
                        <m:t>𝟔</m:t>
                      </m:r>
                      <m:r>
                        <a:rPr lang="en-IN" b="1" i="0">
                          <a:latin typeface="Cambria Math" panose="02040503050406030204" pitchFamily="18" charset="0"/>
                        </a:rPr>
                        <m:t>×</m:t>
                      </m:r>
                      <m:r>
                        <a:rPr lang="en-IN" b="1" i="0">
                          <a:latin typeface="Cambria Math" panose="02040503050406030204" pitchFamily="18" charset="0"/>
                        </a:rPr>
                        <m:t>𝟓</m:t>
                      </m:r>
                      <m:r>
                        <a:rPr lang="en-IN" b="1" i="0">
                          <a:latin typeface="Cambria Math" panose="02040503050406030204" pitchFamily="18" charset="0"/>
                        </a:rPr>
                        <m:t>×</m:t>
                      </m:r>
                      <m:r>
                        <a:rPr lang="en-IN" b="1" i="0">
                          <a:latin typeface="Cambria Math" panose="02040503050406030204" pitchFamily="18" charset="0"/>
                        </a:rPr>
                        <m:t>𝟓</m:t>
                      </m:r>
                      <m:r>
                        <a:rPr lang="en-IN" b="1" i="0">
                          <a:latin typeface="Cambria Math" panose="02040503050406030204" pitchFamily="18" charset="0"/>
                        </a:rPr>
                        <m:t>=</m:t>
                      </m:r>
                      <m:r>
                        <a:rPr lang="en-IN" b="1" i="0">
                          <a:latin typeface="Cambria Math" panose="02040503050406030204" pitchFamily="18" charset="0"/>
                        </a:rPr>
                        <m:t>𝟏𝟓𝟎</m:t>
                      </m:r>
                      <m:r>
                        <m:rPr>
                          <m:nor/>
                        </m:rPr>
                        <a:rPr lang="en-IN" b="0" i="0">
                          <a:latin typeface="Cambria Math" panose="02040503050406030204" pitchFamily="18" charset="0"/>
                        </a:rPr>
                        <m:t> simulation scenarios</m:t>
                      </m:r>
                    </m:oMath>
                  </m:oMathPara>
                </a14:m>
                <a:endParaRPr lang="en-IN" b="1" dirty="0"/>
              </a:p>
              <a:p>
                <a:pPr>
                  <a:buNone/>
                </a:pPr>
                <a:endParaRPr lang="en-IN" b="1" dirty="0"/>
              </a:p>
              <a:p>
                <a:pPr>
                  <a:buNone/>
                </a:pPr>
                <a:r>
                  <a:rPr lang="en-IN" dirty="0"/>
                  <a:t>Each simulation represents a unique combination of </a:t>
                </a:r>
                <a:r>
                  <a:rPr lang="en-IN" b="1" dirty="0"/>
                  <a:t>speed, TTT, and hysteresis</a:t>
                </a:r>
                <a:r>
                  <a:rPr lang="en-IN" dirty="0"/>
                  <a:t>, allowing the effect of these parameters on handover performance to be </a:t>
                </a:r>
                <a:r>
                  <a:rPr lang="en-IN" dirty="0" err="1"/>
                  <a:t>analyzed</a:t>
                </a:r>
                <a:r>
                  <a:rPr lang="en-IN" dirty="0"/>
                  <a:t> independently.</a:t>
                </a:r>
              </a:p>
            </p:txBody>
          </p:sp>
        </mc:Choice>
        <mc:Fallback xmlns="">
          <p:sp>
            <p:nvSpPr>
              <p:cNvPr id="5" name="TextBox 4">
                <a:extLst>
                  <a:ext uri="{FF2B5EF4-FFF2-40B4-BE49-F238E27FC236}">
                    <a16:creationId xmlns:a16="http://schemas.microsoft.com/office/drawing/2014/main" id="{6492D8C7-C434-8B40-221A-A22C0BA39CAD}"/>
                  </a:ext>
                </a:extLst>
              </p:cNvPr>
              <p:cNvSpPr txBox="1">
                <a:spLocks noRot="1" noChangeAspect="1" noMove="1" noResize="1" noEditPoints="1" noAdjustHandles="1" noChangeArrowheads="1" noChangeShapeType="1" noTextEdit="1"/>
              </p:cNvSpPr>
              <p:nvPr/>
            </p:nvSpPr>
            <p:spPr>
              <a:xfrm>
                <a:off x="7474592" y="1044429"/>
                <a:ext cx="4586681" cy="4801314"/>
              </a:xfrm>
              <a:prstGeom prst="rect">
                <a:avLst/>
              </a:prstGeom>
              <a:blipFill>
                <a:blip r:embed="rId3"/>
                <a:stretch>
                  <a:fillRect l="-1062" t="-508" b="-1142"/>
                </a:stretch>
              </a:blipFill>
            </p:spPr>
            <p:txBody>
              <a:bodyPr/>
              <a:lstStyle/>
              <a:p>
                <a:r>
                  <a:rPr lang="en-IN">
                    <a:noFill/>
                  </a:rPr>
                  <a:t> </a:t>
                </a:r>
              </a:p>
            </p:txBody>
          </p:sp>
        </mc:Fallback>
      </mc:AlternateContent>
    </p:spTree>
    <p:extLst>
      <p:ext uri="{BB962C8B-B14F-4D97-AF65-F5344CB8AC3E}">
        <p14:creationId xmlns:p14="http://schemas.microsoft.com/office/powerpoint/2010/main" val="2336602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25B75C-C54D-1C80-1581-30B947C0A676}"/>
              </a:ext>
            </a:extLst>
          </p:cNvPr>
          <p:cNvSpPr txBox="1"/>
          <p:nvPr/>
        </p:nvSpPr>
        <p:spPr>
          <a:xfrm>
            <a:off x="359230" y="228600"/>
            <a:ext cx="5110842" cy="375557"/>
          </a:xfrm>
          <a:prstGeom prst="rect">
            <a:avLst/>
          </a:prstGeom>
          <a:noFill/>
        </p:spPr>
        <p:txBody>
          <a:bodyPr wrap="square" rtlCol="0">
            <a:spAutoFit/>
          </a:bodyPr>
          <a:lstStyle/>
          <a:p>
            <a:r>
              <a:rPr lang="en-IN" b="1" dirty="0"/>
              <a:t>Complete Flow</a:t>
            </a:r>
          </a:p>
        </p:txBody>
      </p:sp>
      <p:pic>
        <p:nvPicPr>
          <p:cNvPr id="4" name="Picture 3">
            <a:extLst>
              <a:ext uri="{FF2B5EF4-FFF2-40B4-BE49-F238E27FC236}">
                <a16:creationId xmlns:a16="http://schemas.microsoft.com/office/drawing/2014/main" id="{95F48AE4-60B3-B819-99BE-4CBE3BD22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355" y="575208"/>
            <a:ext cx="10757290" cy="6054192"/>
          </a:xfrm>
          <a:prstGeom prst="rect">
            <a:avLst/>
          </a:prstGeom>
        </p:spPr>
      </p:pic>
      <p:sp>
        <p:nvSpPr>
          <p:cNvPr id="5" name="Rectangle 4">
            <a:extLst>
              <a:ext uri="{FF2B5EF4-FFF2-40B4-BE49-F238E27FC236}">
                <a16:creationId xmlns:a16="http://schemas.microsoft.com/office/drawing/2014/main" id="{94AA1FE4-736D-F478-9D1D-8CB829B13C61}"/>
              </a:ext>
            </a:extLst>
          </p:cNvPr>
          <p:cNvSpPr/>
          <p:nvPr/>
        </p:nvSpPr>
        <p:spPr>
          <a:xfrm>
            <a:off x="9927771" y="4163786"/>
            <a:ext cx="898072" cy="19431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90198F37-1095-4F6E-9078-B2C5D022A2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44174" y="4771771"/>
            <a:ext cx="675913" cy="459621"/>
          </a:xfrm>
          <a:prstGeom prst="rect">
            <a:avLst/>
          </a:prstGeom>
        </p:spPr>
      </p:pic>
    </p:spTree>
    <p:extLst>
      <p:ext uri="{BB962C8B-B14F-4D97-AF65-F5344CB8AC3E}">
        <p14:creationId xmlns:p14="http://schemas.microsoft.com/office/powerpoint/2010/main" val="1616847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FE2D6C-CA22-2F30-0F4E-E84869994B82}"/>
              </a:ext>
            </a:extLst>
          </p:cNvPr>
          <p:cNvSpPr txBox="1"/>
          <p:nvPr/>
        </p:nvSpPr>
        <p:spPr>
          <a:xfrm>
            <a:off x="344353" y="114300"/>
            <a:ext cx="2055947" cy="369332"/>
          </a:xfrm>
          <a:prstGeom prst="rect">
            <a:avLst/>
          </a:prstGeom>
          <a:noFill/>
        </p:spPr>
        <p:txBody>
          <a:bodyPr wrap="square" rtlCol="0">
            <a:spAutoFit/>
          </a:bodyPr>
          <a:lstStyle/>
          <a:p>
            <a:r>
              <a:rPr lang="en-IN" b="1" dirty="0"/>
              <a:t>Result Obtained</a:t>
            </a:r>
          </a:p>
        </p:txBody>
      </p:sp>
      <p:pic>
        <p:nvPicPr>
          <p:cNvPr id="4" name="Picture 3">
            <a:extLst>
              <a:ext uri="{FF2B5EF4-FFF2-40B4-BE49-F238E27FC236}">
                <a16:creationId xmlns:a16="http://schemas.microsoft.com/office/drawing/2014/main" id="{2F5FEC1E-3926-9CDB-0790-D1A797C1278D}"/>
              </a:ext>
            </a:extLst>
          </p:cNvPr>
          <p:cNvPicPr>
            <a:picLocks noChangeAspect="1"/>
          </p:cNvPicPr>
          <p:nvPr/>
        </p:nvPicPr>
        <p:blipFill>
          <a:blip r:embed="rId2"/>
          <a:stretch>
            <a:fillRect/>
          </a:stretch>
        </p:blipFill>
        <p:spPr>
          <a:xfrm>
            <a:off x="1240971" y="553786"/>
            <a:ext cx="9405256" cy="3848106"/>
          </a:xfrm>
          <a:prstGeom prst="rect">
            <a:avLst/>
          </a:prstGeom>
        </p:spPr>
      </p:pic>
      <p:pic>
        <p:nvPicPr>
          <p:cNvPr id="6" name="Picture 5">
            <a:extLst>
              <a:ext uri="{FF2B5EF4-FFF2-40B4-BE49-F238E27FC236}">
                <a16:creationId xmlns:a16="http://schemas.microsoft.com/office/drawing/2014/main" id="{C880F694-12BE-06C6-12A6-9E60BA09D31C}"/>
              </a:ext>
            </a:extLst>
          </p:cNvPr>
          <p:cNvPicPr>
            <a:picLocks noChangeAspect="1"/>
          </p:cNvPicPr>
          <p:nvPr/>
        </p:nvPicPr>
        <p:blipFill>
          <a:blip r:embed="rId3"/>
          <a:stretch>
            <a:fillRect/>
          </a:stretch>
        </p:blipFill>
        <p:spPr>
          <a:xfrm>
            <a:off x="1964871" y="4586094"/>
            <a:ext cx="8262257" cy="2157606"/>
          </a:xfrm>
          <a:prstGeom prst="rect">
            <a:avLst/>
          </a:prstGeom>
        </p:spPr>
      </p:pic>
    </p:spTree>
    <p:extLst>
      <p:ext uri="{BB962C8B-B14F-4D97-AF65-F5344CB8AC3E}">
        <p14:creationId xmlns:p14="http://schemas.microsoft.com/office/powerpoint/2010/main" val="1468026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FA8EB5-2F15-2730-23B2-C78EF4103C69}"/>
              </a:ext>
            </a:extLst>
          </p:cNvPr>
          <p:cNvSpPr txBox="1"/>
          <p:nvPr/>
        </p:nvSpPr>
        <p:spPr>
          <a:xfrm>
            <a:off x="275878" y="140796"/>
            <a:ext cx="10784007" cy="6001643"/>
          </a:xfrm>
          <a:prstGeom prst="rect">
            <a:avLst/>
          </a:prstGeom>
          <a:noFill/>
        </p:spPr>
        <p:txBody>
          <a:bodyPr wrap="square">
            <a:spAutoFit/>
          </a:bodyPr>
          <a:lstStyle/>
          <a:p>
            <a:pPr>
              <a:buNone/>
            </a:pPr>
            <a:r>
              <a:rPr lang="en-IN" sz="1600" b="1" dirty="0"/>
              <a:t>Challenge Faced During Implementation</a:t>
            </a:r>
          </a:p>
          <a:p>
            <a:pPr>
              <a:buNone/>
            </a:pPr>
            <a:endParaRPr lang="en-IN" sz="1600" b="1" dirty="0"/>
          </a:p>
          <a:p>
            <a:pPr>
              <a:buNone/>
            </a:pPr>
            <a:r>
              <a:rPr lang="en-IN" sz="1600" b="1" dirty="0"/>
              <a:t>Problem Identified</a:t>
            </a:r>
          </a:p>
          <a:p>
            <a:pPr>
              <a:buNone/>
            </a:pPr>
            <a:r>
              <a:rPr lang="en-IN" sz="1600" dirty="0"/>
              <a:t>During the implementation of the High-Speed Railway handover scenario, the simulation was configured for </a:t>
            </a:r>
            <a:r>
              <a:rPr lang="en-IN" sz="1600" b="1" dirty="0"/>
              <a:t>Standalone 5G NR (SA)</a:t>
            </a:r>
            <a:r>
              <a:rPr lang="en-IN" sz="1600" dirty="0"/>
              <a:t>, where each UE connects to only one serving gNB at a time.</a:t>
            </a:r>
          </a:p>
          <a:p>
            <a:pPr>
              <a:buNone/>
            </a:pPr>
            <a:r>
              <a:rPr lang="en-IN" sz="1600" dirty="0"/>
              <a:t>However, during testing, the handover process did not complete successfully even though </a:t>
            </a:r>
            <a:r>
              <a:rPr lang="en-IN" sz="1600" dirty="0" err="1"/>
              <a:t>neighboring</a:t>
            </a:r>
            <a:r>
              <a:rPr lang="en-IN" sz="1600" dirty="0"/>
              <a:t> cells were detected and handover events were triggered.</a:t>
            </a:r>
          </a:p>
          <a:p>
            <a:pPr>
              <a:buNone/>
            </a:pPr>
            <a:endParaRPr lang="en-IN" sz="1600" dirty="0"/>
          </a:p>
          <a:p>
            <a:pPr>
              <a:buNone/>
            </a:pPr>
            <a:r>
              <a:rPr lang="en-IN" sz="1600" b="1" dirty="0"/>
              <a:t>Identified Limitation</a:t>
            </a:r>
          </a:p>
          <a:p>
            <a:pPr>
              <a:buNone/>
            </a:pPr>
            <a:r>
              <a:rPr lang="en-IN" sz="1600" dirty="0"/>
              <a:t>The NR PHY layer in Simu5G internally contains code that is also used for </a:t>
            </a:r>
            <a:r>
              <a:rPr lang="en-IN" sz="1600" b="1" dirty="0"/>
              <a:t>Dual Connectivity (DC)</a:t>
            </a:r>
            <a:r>
              <a:rPr lang="en-IN" sz="1600" dirty="0"/>
              <a:t>.</a:t>
            </a:r>
          </a:p>
          <a:p>
            <a:pPr marL="342900" lvl="0" indent="-342900">
              <a:buFont typeface="Arial" panose="020B0604020202020204" pitchFamily="34" charset="0"/>
              <a:buChar char="•"/>
            </a:pPr>
            <a:r>
              <a:rPr lang="en-IN" sz="1600" b="1" dirty="0"/>
              <a:t>Standalone NR:</a:t>
            </a:r>
            <a:r>
              <a:rPr lang="en-IN" sz="1600" dirty="0"/>
              <a:t> UE connects to </a:t>
            </a:r>
            <a:r>
              <a:rPr lang="en-IN" sz="1600" b="1" dirty="0"/>
              <a:t>one gNB</a:t>
            </a:r>
            <a:r>
              <a:rPr lang="en-IN" sz="1600" dirty="0"/>
              <a:t>. </a:t>
            </a:r>
          </a:p>
          <a:p>
            <a:pPr marL="342900" lvl="0" indent="-342900">
              <a:buFont typeface="Arial" panose="020B0604020202020204" pitchFamily="34" charset="0"/>
              <a:buChar char="•"/>
            </a:pPr>
            <a:r>
              <a:rPr lang="en-IN" sz="1600" b="1" dirty="0"/>
              <a:t>Dual Connectivity:</a:t>
            </a:r>
            <a:r>
              <a:rPr lang="en-IN" sz="1600" dirty="0"/>
              <a:t> UE can connect to </a:t>
            </a:r>
            <a:r>
              <a:rPr lang="en-IN" sz="1600" b="1" dirty="0"/>
              <a:t>two </a:t>
            </a:r>
            <a:r>
              <a:rPr lang="en-IN" sz="1600" b="1" dirty="0" err="1"/>
              <a:t>gNBs</a:t>
            </a:r>
            <a:r>
              <a:rPr lang="en-IN" sz="1600" b="1" dirty="0"/>
              <a:t> simultaneously</a:t>
            </a:r>
            <a:r>
              <a:rPr lang="en-IN" sz="1600" dirty="0"/>
              <a:t> (one Master and one Secondary). </a:t>
            </a:r>
          </a:p>
          <a:p>
            <a:pPr>
              <a:buNone/>
            </a:pPr>
            <a:r>
              <a:rPr lang="en-IN" sz="1600" dirty="0"/>
              <a:t>Our project uses </a:t>
            </a:r>
            <a:r>
              <a:rPr lang="en-IN" sz="1600" b="1" dirty="0"/>
              <a:t>Standalone NR only</a:t>
            </a:r>
            <a:r>
              <a:rPr lang="en-IN" sz="1600" dirty="0"/>
              <a:t>, but parts of the handover implementation still execute logic intended for Dual Connectivity.</a:t>
            </a:r>
          </a:p>
          <a:p>
            <a:pPr>
              <a:buNone/>
            </a:pPr>
            <a:r>
              <a:rPr lang="en-IN" sz="1600" dirty="0"/>
              <a:t>As a result, the handover procedure could not be completed correctly.</a:t>
            </a:r>
          </a:p>
          <a:p>
            <a:pPr>
              <a:buNone/>
            </a:pPr>
            <a:endParaRPr lang="en-IN" sz="1600" dirty="0"/>
          </a:p>
          <a:p>
            <a:pPr>
              <a:buNone/>
            </a:pPr>
            <a:r>
              <a:rPr lang="en-IN" sz="1600" b="1" dirty="0"/>
              <a:t>Observed Effects</a:t>
            </a:r>
          </a:p>
          <a:p>
            <a:pPr>
              <a:buNone/>
            </a:pPr>
            <a:r>
              <a:rPr lang="en-IN" sz="1600" dirty="0"/>
              <a:t>During simulation, the following </a:t>
            </a:r>
            <a:r>
              <a:rPr lang="en-IN" sz="1600" dirty="0" err="1"/>
              <a:t>behaviors</a:t>
            </a:r>
            <a:r>
              <a:rPr lang="en-IN" sz="1600" dirty="0"/>
              <a:t> were observed:</a:t>
            </a:r>
          </a:p>
          <a:p>
            <a:pPr marL="342900" lvl="0" indent="-342900">
              <a:buFont typeface="Arial" panose="020B0604020202020204" pitchFamily="34" charset="0"/>
              <a:buChar char="•"/>
            </a:pPr>
            <a:r>
              <a:rPr lang="en-IN" sz="1600" dirty="0"/>
              <a:t>Handover trigger events were generated. </a:t>
            </a:r>
          </a:p>
          <a:p>
            <a:pPr marL="342900" lvl="0" indent="-342900">
              <a:buFont typeface="Arial" panose="020B0604020202020204" pitchFamily="34" charset="0"/>
              <a:buChar char="•"/>
            </a:pPr>
            <a:r>
              <a:rPr lang="en-IN" sz="1600" dirty="0" err="1"/>
              <a:t>Neighbor</a:t>
            </a:r>
            <a:r>
              <a:rPr lang="en-IN" sz="1600" dirty="0"/>
              <a:t> cell measurements were received. </a:t>
            </a:r>
          </a:p>
          <a:p>
            <a:pPr marL="342900" lvl="0" indent="-342900">
              <a:buFont typeface="Arial" panose="020B0604020202020204" pitchFamily="34" charset="0"/>
              <a:buChar char="•"/>
            </a:pPr>
            <a:r>
              <a:rPr lang="en-IN" sz="1600" dirty="0"/>
              <a:t>Candidate cell information was detected. </a:t>
            </a:r>
          </a:p>
          <a:p>
            <a:pPr marL="342900" lvl="0" indent="-342900">
              <a:buFont typeface="Arial" panose="020B0604020202020204" pitchFamily="34" charset="0"/>
              <a:buChar char="•"/>
            </a:pPr>
            <a:r>
              <a:rPr lang="en-IN" sz="1600" dirty="0"/>
              <a:t>The serving cell ID did not update correctly. </a:t>
            </a:r>
          </a:p>
          <a:p>
            <a:pPr marL="342900" lvl="0" indent="-342900">
              <a:buFont typeface="Arial" panose="020B0604020202020204" pitchFamily="34" charset="0"/>
              <a:buChar char="•"/>
            </a:pPr>
            <a:r>
              <a:rPr lang="en-IN" sz="1600" dirty="0"/>
              <a:t>Most performance metrics remained zero because the handover never completed. </a:t>
            </a:r>
          </a:p>
          <a:p>
            <a:pPr>
              <a:buNone/>
            </a:pPr>
            <a:endParaRPr lang="en-IN" sz="1600" dirty="0"/>
          </a:p>
        </p:txBody>
      </p:sp>
    </p:spTree>
    <p:extLst>
      <p:ext uri="{BB962C8B-B14F-4D97-AF65-F5344CB8AC3E}">
        <p14:creationId xmlns:p14="http://schemas.microsoft.com/office/powerpoint/2010/main" val="388433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AA4066-F739-99A1-FB53-B49B66554BA5}"/>
              </a:ext>
            </a:extLst>
          </p:cNvPr>
          <p:cNvSpPr txBox="1"/>
          <p:nvPr/>
        </p:nvSpPr>
        <p:spPr>
          <a:xfrm>
            <a:off x="152399" y="305068"/>
            <a:ext cx="11887201" cy="6494085"/>
          </a:xfrm>
          <a:prstGeom prst="rect">
            <a:avLst/>
          </a:prstGeom>
          <a:noFill/>
        </p:spPr>
        <p:txBody>
          <a:bodyPr wrap="square">
            <a:spAutoFit/>
          </a:bodyPr>
          <a:lstStyle/>
          <a:p>
            <a:pPr>
              <a:buNone/>
            </a:pPr>
            <a:r>
              <a:rPr lang="en-IN" sz="1600" b="1" dirty="0"/>
              <a:t>A3 Handover Analysis</a:t>
            </a:r>
          </a:p>
          <a:p>
            <a:pPr>
              <a:buNone/>
            </a:pPr>
            <a:endParaRPr lang="en-IN" sz="1600" b="1" dirty="0"/>
          </a:p>
          <a:p>
            <a:pPr>
              <a:buNone/>
            </a:pPr>
            <a:r>
              <a:rPr lang="en-IN" sz="1600" b="1" dirty="0"/>
              <a:t>Event A3 Handover Process</a:t>
            </a:r>
          </a:p>
          <a:p>
            <a:pPr>
              <a:buNone/>
            </a:pPr>
            <a:r>
              <a:rPr lang="en-IN" sz="1600" dirty="0"/>
              <a:t>The simulation implemented the </a:t>
            </a:r>
            <a:r>
              <a:rPr lang="en-IN" sz="1600" b="1" dirty="0"/>
              <a:t>3GPP Event A3 handover algorithm</a:t>
            </a:r>
            <a:r>
              <a:rPr lang="en-IN" sz="1600" dirty="0"/>
              <a:t>, where a handover is initiated when the </a:t>
            </a:r>
            <a:r>
              <a:rPr lang="en-IN" sz="1600" dirty="0" err="1"/>
              <a:t>neighboring</a:t>
            </a:r>
            <a:r>
              <a:rPr lang="en-IN" sz="1600" dirty="0"/>
              <a:t> cell provides a stronger signal than the serving cell by the configured </a:t>
            </a:r>
            <a:r>
              <a:rPr lang="en-IN" sz="1600" b="1" dirty="0"/>
              <a:t>Hysteresis</a:t>
            </a:r>
            <a:r>
              <a:rPr lang="en-IN" sz="1600" dirty="0"/>
              <a:t> value for the specified </a:t>
            </a:r>
            <a:r>
              <a:rPr lang="en-IN" sz="1600" b="1" dirty="0"/>
              <a:t>Time-To-Trigger (TTT)</a:t>
            </a:r>
            <a:r>
              <a:rPr lang="en-IN" sz="1600" dirty="0"/>
              <a:t> duration.</a:t>
            </a:r>
          </a:p>
          <a:p>
            <a:pPr>
              <a:buNone/>
            </a:pPr>
            <a:r>
              <a:rPr lang="en-IN" sz="1600" b="1" dirty="0"/>
              <a:t>A3 Handover Condition</a:t>
            </a:r>
            <a:endParaRPr lang="en-IN" sz="1600" dirty="0"/>
          </a:p>
          <a:p>
            <a:pPr>
              <a:buNone/>
            </a:pPr>
            <a:r>
              <a:rPr lang="en-IN" sz="1600" b="1" dirty="0"/>
              <a:t>Neighbour Cell Signal &gt; Serving Cell Signal + Hysteresis (for TTT duration)</a:t>
            </a:r>
            <a:br>
              <a:rPr lang="en-IN" sz="1600" dirty="0"/>
            </a:br>
            <a:endParaRPr lang="en-IN" sz="1600" dirty="0"/>
          </a:p>
          <a:p>
            <a:pPr>
              <a:buNone/>
            </a:pPr>
            <a:r>
              <a:rPr lang="en-IN" sz="1600" b="1" dirty="0"/>
              <a:t>Observations During Simulation</a:t>
            </a:r>
          </a:p>
          <a:p>
            <a:pPr marL="342900" lvl="0" indent="-342900">
              <a:buFont typeface="Arial" panose="020B0604020202020204" pitchFamily="34" charset="0"/>
              <a:buChar char="•"/>
            </a:pPr>
            <a:r>
              <a:rPr lang="en-IN" sz="1600" dirty="0"/>
              <a:t>Neighbouring gNB signal measurements were successfully received.</a:t>
            </a:r>
          </a:p>
          <a:p>
            <a:pPr marL="342900" lvl="0" indent="-342900">
              <a:buFont typeface="Arial" panose="020B0604020202020204" pitchFamily="34" charset="0"/>
              <a:buChar char="•"/>
            </a:pPr>
            <a:r>
              <a:rPr lang="en-IN" sz="1600" dirty="0"/>
              <a:t>Event A3 conditions were evaluated continuously.</a:t>
            </a:r>
          </a:p>
          <a:p>
            <a:pPr marL="342900" lvl="0" indent="-342900">
              <a:buFont typeface="Arial" panose="020B0604020202020204" pitchFamily="34" charset="0"/>
              <a:buChar char="•"/>
            </a:pPr>
            <a:r>
              <a:rPr lang="en-IN" sz="1600" dirty="0"/>
              <a:t>Candidate target cells were identified.</a:t>
            </a:r>
          </a:p>
          <a:p>
            <a:pPr marL="342900" lvl="0" indent="-342900">
              <a:buFont typeface="Arial" panose="020B0604020202020204" pitchFamily="34" charset="0"/>
              <a:buChar char="•"/>
            </a:pPr>
            <a:r>
              <a:rPr lang="en-IN" sz="1600" dirty="0"/>
              <a:t>Time-To-Trigger timers were activated.</a:t>
            </a:r>
          </a:p>
          <a:p>
            <a:pPr marL="342900" lvl="0" indent="-342900">
              <a:buFont typeface="Arial" panose="020B0604020202020204" pitchFamily="34" charset="0"/>
              <a:buChar char="•"/>
            </a:pPr>
            <a:r>
              <a:rPr lang="en-IN" sz="1600" dirty="0"/>
              <a:t>Handover trigger events were generated successfully.</a:t>
            </a:r>
          </a:p>
          <a:p>
            <a:pPr>
              <a:buNone/>
            </a:pPr>
            <a:r>
              <a:rPr lang="en-IN" sz="1600" dirty="0"/>
              <a:t>These observations confirmed that the </a:t>
            </a:r>
            <a:r>
              <a:rPr lang="en-IN" sz="1600" b="1" dirty="0"/>
              <a:t>A3 handover decision algorithm was functioning correctly.</a:t>
            </a:r>
            <a:endParaRPr lang="en-IN" sz="1600" dirty="0"/>
          </a:p>
          <a:p>
            <a:pPr>
              <a:buNone/>
            </a:pPr>
            <a:endParaRPr lang="en-IN" sz="1600" dirty="0"/>
          </a:p>
          <a:p>
            <a:pPr>
              <a:buNone/>
            </a:pPr>
            <a:r>
              <a:rPr lang="en-IN" sz="1600" b="1" dirty="0"/>
              <a:t>Final Outcome</a:t>
            </a:r>
          </a:p>
          <a:p>
            <a:pPr>
              <a:buNone/>
            </a:pPr>
            <a:r>
              <a:rPr lang="en-IN" sz="1600" dirty="0"/>
              <a:t>Although the </a:t>
            </a:r>
            <a:r>
              <a:rPr lang="en-IN" sz="1600" b="1" dirty="0"/>
              <a:t>A3 handover decision was successfully triggered</a:t>
            </a:r>
            <a:r>
              <a:rPr lang="en-IN" sz="1600" dirty="0"/>
              <a:t>, the </a:t>
            </a:r>
            <a:r>
              <a:rPr lang="en-IN" sz="1600" b="1" dirty="0"/>
              <a:t>handover execution phase could not be completed</a:t>
            </a:r>
            <a:r>
              <a:rPr lang="en-IN" sz="1600" dirty="0"/>
              <a:t> because the internal NR handover implementation in Simu5G followed code paths intended for </a:t>
            </a:r>
            <a:r>
              <a:rPr lang="en-IN" sz="1600" b="1" dirty="0"/>
              <a:t>Dual Connectivity</a:t>
            </a:r>
            <a:r>
              <a:rPr lang="en-IN" sz="1600" dirty="0"/>
              <a:t> rather than pure </a:t>
            </a:r>
            <a:r>
              <a:rPr lang="en-IN" sz="1600" b="1" dirty="0"/>
              <a:t>Standalone NR</a:t>
            </a:r>
            <a:r>
              <a:rPr lang="en-IN" sz="1600" dirty="0"/>
              <a:t> operation.</a:t>
            </a:r>
          </a:p>
          <a:p>
            <a:pPr>
              <a:buNone/>
            </a:pPr>
            <a:r>
              <a:rPr lang="en-IN" sz="1600" dirty="0"/>
              <a:t>As a result:</a:t>
            </a:r>
          </a:p>
          <a:p>
            <a:pPr marL="342900" lvl="0" indent="-342900">
              <a:buFont typeface="Arial" panose="020B0604020202020204" pitchFamily="34" charset="0"/>
              <a:buChar char="•"/>
            </a:pPr>
            <a:r>
              <a:rPr lang="en-IN" sz="1600" dirty="0"/>
              <a:t>The serving cell was not updated.</a:t>
            </a:r>
          </a:p>
          <a:p>
            <a:pPr marL="342900" lvl="0" indent="-342900">
              <a:buFont typeface="Arial" panose="020B0604020202020204" pitchFamily="34" charset="0"/>
              <a:buChar char="•"/>
            </a:pPr>
            <a:r>
              <a:rPr lang="en-IN" sz="1600" dirty="0"/>
              <a:t>The UE remained connected to the original gNB.</a:t>
            </a:r>
          </a:p>
          <a:p>
            <a:pPr marL="342900" lvl="0" indent="-342900">
              <a:buFont typeface="Arial" panose="020B0604020202020204" pitchFamily="34" charset="0"/>
              <a:buChar char="•"/>
            </a:pPr>
            <a:r>
              <a:rPr lang="en-IN" sz="1600" dirty="0"/>
              <a:t>Complete handover execution did not occur.</a:t>
            </a:r>
          </a:p>
          <a:p>
            <a:pPr marL="342900" lvl="0" indent="-342900">
              <a:buFont typeface="Arial" panose="020B0604020202020204" pitchFamily="34" charset="0"/>
              <a:buChar char="•"/>
            </a:pPr>
            <a:r>
              <a:rPr lang="en-IN" sz="1600" dirty="0"/>
              <a:t>Most handover-related performance metrics remained zero.</a:t>
            </a:r>
          </a:p>
          <a:p>
            <a:pPr>
              <a:buNone/>
            </a:pPr>
            <a:endParaRPr lang="en-IN" sz="1600" dirty="0"/>
          </a:p>
        </p:txBody>
      </p:sp>
    </p:spTree>
    <p:extLst>
      <p:ext uri="{BB962C8B-B14F-4D97-AF65-F5344CB8AC3E}">
        <p14:creationId xmlns:p14="http://schemas.microsoft.com/office/powerpoint/2010/main" val="4095081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376D50-104E-7B12-F01E-538F40F5B098}"/>
              </a:ext>
            </a:extLst>
          </p:cNvPr>
          <p:cNvSpPr txBox="1"/>
          <p:nvPr/>
        </p:nvSpPr>
        <p:spPr>
          <a:xfrm>
            <a:off x="190150" y="119180"/>
            <a:ext cx="11811699" cy="6494085"/>
          </a:xfrm>
          <a:prstGeom prst="rect">
            <a:avLst/>
          </a:prstGeom>
          <a:noFill/>
        </p:spPr>
        <p:txBody>
          <a:bodyPr wrap="square">
            <a:spAutoFit/>
          </a:bodyPr>
          <a:lstStyle/>
          <a:p>
            <a:pPr>
              <a:buNone/>
            </a:pPr>
            <a:r>
              <a:rPr lang="en-IN" sz="1600" dirty="0"/>
              <a:t>In real 5G deployments, there are two common architectures:</a:t>
            </a:r>
          </a:p>
          <a:p>
            <a:pPr>
              <a:buNone/>
            </a:pPr>
            <a:r>
              <a:rPr lang="en-IN" sz="1600" b="1" dirty="0"/>
              <a:t>1. Standalone (SA)</a:t>
            </a:r>
          </a:p>
          <a:p>
            <a:pPr rtl="0">
              <a:buNone/>
            </a:pPr>
            <a:r>
              <a:rPr lang="en-IN" sz="1600" dirty="0">
                <a:latin typeface="Courier New" panose="02070309020205020404" pitchFamily="49" charset="0"/>
              </a:rPr>
              <a:t>UE -- gNB1</a:t>
            </a:r>
          </a:p>
          <a:p>
            <a:pPr>
              <a:buNone/>
            </a:pPr>
            <a:r>
              <a:rPr lang="en-IN" sz="1600" dirty="0"/>
              <a:t>The UE is connected to </a:t>
            </a:r>
            <a:r>
              <a:rPr lang="en-IN" sz="1600" b="1" dirty="0"/>
              <a:t>only one gNB</a:t>
            </a:r>
            <a:r>
              <a:rPr lang="en-IN" sz="1600" dirty="0"/>
              <a:t>.</a:t>
            </a:r>
          </a:p>
          <a:p>
            <a:pPr>
              <a:buNone/>
            </a:pPr>
            <a:r>
              <a:rPr lang="en-IN" sz="1600" dirty="0"/>
              <a:t>During handover:</a:t>
            </a:r>
          </a:p>
          <a:p>
            <a:pPr rtl="0">
              <a:buNone/>
            </a:pPr>
            <a:r>
              <a:rPr lang="en-IN" sz="1600" dirty="0">
                <a:latin typeface="Courier New" panose="02070309020205020404" pitchFamily="49" charset="0"/>
              </a:rPr>
              <a:t>gNB1 – HO </a:t>
            </a:r>
            <a:r>
              <a:rPr lang="en-IN" sz="1600" dirty="0">
                <a:latin typeface="Courier New" panose="02070309020205020404" pitchFamily="49" charset="0"/>
                <a:sym typeface="Wingdings" panose="05000000000000000000" pitchFamily="2" charset="2"/>
              </a:rPr>
              <a:t></a:t>
            </a:r>
            <a:r>
              <a:rPr lang="en-IN" sz="1600" dirty="0">
                <a:latin typeface="Courier New" panose="02070309020205020404" pitchFamily="49" charset="0"/>
              </a:rPr>
              <a:t>gNB2</a:t>
            </a:r>
          </a:p>
          <a:p>
            <a:pPr>
              <a:buNone/>
            </a:pPr>
            <a:r>
              <a:rPr lang="en-IN" sz="1600" dirty="0"/>
              <a:t>The UE disconnects from gNB1 and connects to gNB2.</a:t>
            </a:r>
            <a:br>
              <a:rPr lang="en-IN" sz="1600" dirty="0"/>
            </a:br>
            <a:endParaRPr lang="en-IN" sz="1600" dirty="0"/>
          </a:p>
          <a:p>
            <a:pPr>
              <a:buNone/>
            </a:pPr>
            <a:r>
              <a:rPr lang="en-IN" sz="1600" b="1" dirty="0"/>
              <a:t>2. Dual Connectivity (DC)</a:t>
            </a:r>
          </a:p>
          <a:p>
            <a:pPr rtl="0">
              <a:buNone/>
            </a:pPr>
            <a:r>
              <a:rPr lang="en-IN" sz="1600" dirty="0">
                <a:latin typeface="Courier New" panose="02070309020205020404" pitchFamily="49" charset="0"/>
              </a:rPr>
              <a:t>          Master gNB</a:t>
            </a:r>
          </a:p>
          <a:p>
            <a:pPr rtl="0">
              <a:buNone/>
            </a:pPr>
            <a:r>
              <a:rPr lang="en-IN" sz="1600" dirty="0">
                <a:latin typeface="Courier New" panose="02070309020205020404" pitchFamily="49" charset="0"/>
              </a:rPr>
              <a:t>               │</a:t>
            </a:r>
          </a:p>
          <a:p>
            <a:pPr rtl="0">
              <a:buNone/>
            </a:pPr>
            <a:r>
              <a:rPr lang="en-IN" sz="1600" dirty="0">
                <a:latin typeface="Courier New" panose="02070309020205020404" pitchFamily="49" charset="0"/>
              </a:rPr>
              <a:t>              UE</a:t>
            </a:r>
          </a:p>
          <a:p>
            <a:pPr rtl="0">
              <a:buNone/>
            </a:pPr>
            <a:r>
              <a:rPr lang="en-IN" sz="1600" dirty="0">
                <a:latin typeface="Courier New" panose="02070309020205020404" pitchFamily="49" charset="0"/>
              </a:rPr>
              <a:t>               │</a:t>
            </a:r>
          </a:p>
          <a:p>
            <a:pPr rtl="0">
              <a:buNone/>
            </a:pPr>
            <a:r>
              <a:rPr lang="en-IN" sz="1600" dirty="0">
                <a:latin typeface="Courier New" panose="02070309020205020404" pitchFamily="49" charset="0"/>
              </a:rPr>
              <a:t>         Secondary gNB</a:t>
            </a:r>
          </a:p>
          <a:p>
            <a:pPr>
              <a:buNone/>
            </a:pPr>
            <a:r>
              <a:rPr lang="en-IN" sz="1600" dirty="0"/>
              <a:t>The UE is connected to </a:t>
            </a:r>
            <a:r>
              <a:rPr lang="en-IN" sz="1600" b="1" dirty="0"/>
              <a:t>both </a:t>
            </a:r>
            <a:r>
              <a:rPr lang="en-IN" sz="1600" b="1" dirty="0" err="1"/>
              <a:t>gNBs</a:t>
            </a:r>
            <a:r>
              <a:rPr lang="en-IN" sz="1600" b="1" dirty="0"/>
              <a:t> simultaneously</a:t>
            </a:r>
            <a:r>
              <a:rPr lang="en-IN" sz="1600" dirty="0"/>
              <a:t>.</a:t>
            </a:r>
          </a:p>
          <a:p>
            <a:pPr>
              <a:buNone/>
            </a:pPr>
            <a:r>
              <a:rPr lang="en-IN" sz="1600" dirty="0"/>
              <a:t>This improves:</a:t>
            </a:r>
          </a:p>
          <a:p>
            <a:pPr marL="342900" lvl="0" indent="-342900">
              <a:buFont typeface="Arial" panose="020B0604020202020204" pitchFamily="34" charset="0"/>
              <a:buChar char="•"/>
            </a:pPr>
            <a:r>
              <a:rPr lang="en-IN" sz="1600" dirty="0"/>
              <a:t>reliability </a:t>
            </a:r>
          </a:p>
          <a:p>
            <a:pPr marL="342900" lvl="0" indent="-342900">
              <a:buFont typeface="Arial" panose="020B0604020202020204" pitchFamily="34" charset="0"/>
              <a:buChar char="•"/>
            </a:pPr>
            <a:r>
              <a:rPr lang="en-IN" sz="1600" dirty="0"/>
              <a:t>throughput </a:t>
            </a:r>
          </a:p>
          <a:p>
            <a:pPr marL="342900" lvl="0" indent="-342900">
              <a:buFont typeface="Arial" panose="020B0604020202020204" pitchFamily="34" charset="0"/>
              <a:buChar char="•"/>
            </a:pPr>
            <a:r>
              <a:rPr lang="en-IN" sz="1600" dirty="0"/>
              <a:t>smoother mobility </a:t>
            </a:r>
          </a:p>
          <a:p>
            <a:pPr>
              <a:buNone/>
            </a:pPr>
            <a:r>
              <a:rPr lang="en-IN" sz="1600" dirty="0"/>
              <a:t>The second connection is </a:t>
            </a:r>
            <a:r>
              <a:rPr lang="en-IN" sz="1600" b="1" dirty="0"/>
              <a:t>not mainly to avoid ping-pong</a:t>
            </a:r>
            <a:r>
              <a:rPr lang="en-IN" sz="1600" dirty="0"/>
              <a:t>. It is primarily to </a:t>
            </a:r>
            <a:r>
              <a:rPr lang="en-IN" sz="1600" b="1" dirty="0"/>
              <a:t>maintain connectivity and increase data capacity</a:t>
            </a:r>
            <a:r>
              <a:rPr lang="en-IN" sz="1600" dirty="0"/>
              <a:t> during mobility.</a:t>
            </a:r>
          </a:p>
          <a:p>
            <a:pPr>
              <a:buNone/>
            </a:pPr>
            <a:endParaRPr lang="en-IN" sz="1600" dirty="0"/>
          </a:p>
          <a:p>
            <a:r>
              <a:rPr lang="en-IN" sz="1600" b="1" dirty="0"/>
              <a:t>Key Takeaway</a:t>
            </a:r>
            <a:endParaRPr lang="en-IN" sz="1600" b="1" dirty="0">
              <a:effectLst/>
            </a:endParaRPr>
          </a:p>
          <a:p>
            <a:r>
              <a:rPr lang="en-IN" sz="1600" dirty="0"/>
              <a:t>Event A3 successfully detected when a handover should occur, but the actual handover execution could not be completed due to limitations in the current Simu5G NR Standalone handover implementation.</a:t>
            </a:r>
            <a:endParaRPr lang="en-IN" sz="1600" dirty="0">
              <a:effectLst/>
            </a:endParaRPr>
          </a:p>
          <a:p>
            <a:pPr>
              <a:buNone/>
            </a:pPr>
            <a:endParaRPr lang="en-IN" sz="1600" dirty="0"/>
          </a:p>
        </p:txBody>
      </p:sp>
    </p:spTree>
    <p:extLst>
      <p:ext uri="{BB962C8B-B14F-4D97-AF65-F5344CB8AC3E}">
        <p14:creationId xmlns:p14="http://schemas.microsoft.com/office/powerpoint/2010/main" val="3612057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DDA016-F022-E19F-FE42-A7D58D19854C}"/>
              </a:ext>
            </a:extLst>
          </p:cNvPr>
          <p:cNvSpPr txBox="1"/>
          <p:nvPr/>
        </p:nvSpPr>
        <p:spPr>
          <a:xfrm>
            <a:off x="350590" y="176292"/>
            <a:ext cx="11490820" cy="6186309"/>
          </a:xfrm>
          <a:prstGeom prst="rect">
            <a:avLst/>
          </a:prstGeom>
          <a:noFill/>
        </p:spPr>
        <p:txBody>
          <a:bodyPr wrap="square">
            <a:spAutoFit/>
          </a:bodyPr>
          <a:lstStyle/>
          <a:p>
            <a:pPr>
              <a:buNone/>
            </a:pPr>
            <a:r>
              <a:rPr lang="en-IN" b="1" dirty="0"/>
              <a:t>Future Work: AI-Based Handover Evaluation Framework</a:t>
            </a:r>
          </a:p>
          <a:p>
            <a:pPr>
              <a:buNone/>
            </a:pPr>
            <a:r>
              <a:rPr lang="en-IN" b="1" dirty="0"/>
              <a:t>AI-Based Evaluation Model</a:t>
            </a:r>
          </a:p>
          <a:p>
            <a:pPr>
              <a:buNone/>
            </a:pPr>
            <a:r>
              <a:rPr lang="en-IN" dirty="0"/>
              <a:t>The next phase of this project aims to develop a Machine Learning model capable of:</a:t>
            </a:r>
          </a:p>
          <a:p>
            <a:pPr marL="342900" lvl="0" indent="-342900">
              <a:buFont typeface="Arial" panose="020B0604020202020204" pitchFamily="34" charset="0"/>
              <a:buChar char="•"/>
            </a:pPr>
            <a:r>
              <a:rPr lang="en-IN" dirty="0"/>
              <a:t>Learning the relationship between network parameters and handover performance. </a:t>
            </a:r>
          </a:p>
          <a:p>
            <a:pPr marL="342900" lvl="0" indent="-342900">
              <a:buFont typeface="Arial" panose="020B0604020202020204" pitchFamily="34" charset="0"/>
              <a:buChar char="•"/>
            </a:pPr>
            <a:r>
              <a:rPr lang="en-IN" dirty="0"/>
              <a:t>Comparing the performance of different handover algorithms. </a:t>
            </a:r>
          </a:p>
          <a:p>
            <a:pPr marL="342900" lvl="0" indent="-342900">
              <a:buFont typeface="Arial" panose="020B0604020202020204" pitchFamily="34" charset="0"/>
              <a:buChar char="•"/>
            </a:pPr>
            <a:r>
              <a:rPr lang="en-IN" dirty="0"/>
              <a:t>Predicting the most suitable handover algorithm for different High-Speed Railway scenarios. </a:t>
            </a:r>
          </a:p>
          <a:p>
            <a:pPr>
              <a:buNone/>
            </a:pPr>
            <a:br>
              <a:rPr lang="en-IN" dirty="0"/>
            </a:br>
            <a:endParaRPr lang="en-IN" dirty="0"/>
          </a:p>
          <a:p>
            <a:pPr>
              <a:buNone/>
            </a:pPr>
            <a:r>
              <a:rPr lang="en-IN" b="1" dirty="0"/>
              <a:t>Intelligent Decision Support System</a:t>
            </a:r>
          </a:p>
          <a:p>
            <a:pPr>
              <a:buNone/>
            </a:pPr>
            <a:r>
              <a:rPr lang="en-IN" dirty="0"/>
              <a:t>The proposed framework will:</a:t>
            </a:r>
          </a:p>
          <a:p>
            <a:pPr marL="342900" lvl="0" indent="-342900">
              <a:buFont typeface="Arial" panose="020B0604020202020204" pitchFamily="34" charset="0"/>
              <a:buChar char="•"/>
            </a:pPr>
            <a:r>
              <a:rPr lang="en-IN" dirty="0"/>
              <a:t>Accept simulation parameters and network conditions as input. </a:t>
            </a:r>
          </a:p>
          <a:p>
            <a:pPr marL="342900" lvl="0" indent="-342900">
              <a:buFont typeface="Arial" panose="020B0604020202020204" pitchFamily="34" charset="0"/>
              <a:buChar char="•"/>
            </a:pPr>
            <a:r>
              <a:rPr lang="en-IN" dirty="0"/>
              <a:t>Evaluate multiple handover algorithms. </a:t>
            </a:r>
          </a:p>
          <a:p>
            <a:pPr marL="342900" lvl="0" indent="-342900">
              <a:buFont typeface="Arial" panose="020B0604020202020204" pitchFamily="34" charset="0"/>
              <a:buChar char="•"/>
            </a:pPr>
            <a:r>
              <a:rPr lang="en-IN" dirty="0"/>
              <a:t>Predict network performance using AI models. </a:t>
            </a:r>
          </a:p>
          <a:p>
            <a:pPr marL="342900" lvl="0" indent="-342900">
              <a:buFont typeface="Arial" panose="020B0604020202020204" pitchFamily="34" charset="0"/>
              <a:buChar char="•"/>
            </a:pPr>
            <a:r>
              <a:rPr lang="en-IN" dirty="0"/>
              <a:t>Recommend the best-performing handover algorithm for a given railway scenario. </a:t>
            </a:r>
          </a:p>
          <a:p>
            <a:pPr>
              <a:buNone/>
            </a:pPr>
            <a:br>
              <a:rPr lang="en-IN" dirty="0"/>
            </a:br>
            <a:endParaRPr lang="en-IN" dirty="0"/>
          </a:p>
          <a:p>
            <a:pPr>
              <a:buNone/>
            </a:pPr>
            <a:r>
              <a:rPr lang="en-IN" b="1" dirty="0"/>
              <a:t>Expected Outcome</a:t>
            </a:r>
          </a:p>
          <a:p>
            <a:pPr marL="342900" lvl="0" indent="-342900">
              <a:buFont typeface="Arial" panose="020B0604020202020204" pitchFamily="34" charset="0"/>
              <a:buChar char="•"/>
            </a:pPr>
            <a:r>
              <a:rPr lang="en-IN" dirty="0"/>
              <a:t>Develop an AI-driven framework that combines </a:t>
            </a:r>
            <a:r>
              <a:rPr lang="en-IN" b="1" dirty="0"/>
              <a:t>Simu5G simulation</a:t>
            </a:r>
            <a:r>
              <a:rPr lang="en-IN" dirty="0"/>
              <a:t> with </a:t>
            </a:r>
            <a:r>
              <a:rPr lang="en-IN" b="1" dirty="0"/>
              <a:t>Machine Learning</a:t>
            </a:r>
            <a:r>
              <a:rPr lang="en-IN" dirty="0"/>
              <a:t>. </a:t>
            </a:r>
          </a:p>
          <a:p>
            <a:pPr marL="342900" lvl="0" indent="-342900">
              <a:buFont typeface="Arial" panose="020B0604020202020204" pitchFamily="34" charset="0"/>
              <a:buChar char="•"/>
            </a:pPr>
            <a:r>
              <a:rPr lang="en-IN" dirty="0"/>
              <a:t>Automate the analysis of handover performance across different network conditions. </a:t>
            </a:r>
          </a:p>
          <a:p>
            <a:pPr marL="342900" lvl="0" indent="-342900">
              <a:buFont typeface="Arial" panose="020B0604020202020204" pitchFamily="34" charset="0"/>
              <a:buChar char="•"/>
            </a:pPr>
            <a:r>
              <a:rPr lang="en-IN" dirty="0"/>
              <a:t>Assist researchers in selecting optimal handover strategies for future </a:t>
            </a:r>
            <a:r>
              <a:rPr lang="en-IN" b="1" dirty="0"/>
              <a:t>5G and 6G High-Speed Railway communication systems</a:t>
            </a:r>
            <a:r>
              <a:rPr lang="en-IN" dirty="0"/>
              <a:t>. </a:t>
            </a:r>
          </a:p>
          <a:p>
            <a:pPr marL="342900" lvl="0" indent="-342900">
              <a:buFont typeface="Arial" panose="020B0604020202020204" pitchFamily="34" charset="0"/>
              <a:buChar char="•"/>
            </a:pPr>
            <a:r>
              <a:rPr lang="en-IN" dirty="0"/>
              <a:t>Reduce the time required for manual evaluation of multiple handover algorithms. </a:t>
            </a:r>
          </a:p>
        </p:txBody>
      </p:sp>
    </p:spTree>
    <p:extLst>
      <p:ext uri="{BB962C8B-B14F-4D97-AF65-F5344CB8AC3E}">
        <p14:creationId xmlns:p14="http://schemas.microsoft.com/office/powerpoint/2010/main" val="3493566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3D1877-2DC7-121E-9B1E-9585576E97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371699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1457</TotalTime>
  <Words>1755</Words>
  <Application>Microsoft Office PowerPoint</Application>
  <PresentationFormat>Widescreen</PresentationFormat>
  <Paragraphs>229</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Dhruv Khanna</dc:creator>
  <cp:lastModifiedBy>Dhruv Khanna</cp:lastModifiedBy>
  <cp:revision>7</cp:revision>
  <dcterms:created xsi:type="dcterms:W3CDTF">2026-08-06T02:48:11Z</dcterms:created>
  <dcterms:modified xsi:type="dcterms:W3CDTF">2026-08-07T03:45:41Z</dcterms:modified>
</cp:coreProperties>
</file>