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FCFCFC"/>
    <a:srgbClr val="FDF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34.30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16,'34'1,"50"10,-49-6,46 2,990-8,-1026-1,51-9,-30 2,10-2,-45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35.00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537 1,'-4'0,"-5"0,-10 0,-4 0,-11 4,-8 1,0 4,-1 0,-1-1,-2-2,4-2,5-2,5-1,3-1,4 0,1 0,1-1,4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35.80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0,'1'15,"0"0,2 0,0-1,0 1,1-1,1 0,0 0,1-1,1 1,11 16,-2-5,1-1,1-1,2-1,26 25,463 364,-136-134,-372-276,18 12,-1 2,27 26,-40-35,-1-1,0 1,0 0,0 0,0 0,-1 1,0-1,0 1,-1-1,0 1,0 0,1 11,-1 15,-1 0,-1 0,-2-1,-2 1,-11 51,-57 160,56-194,-10 30,-162 575,184-635,-1-1,1 1,1 0,1 0,1 30,1-47,0 0,1 0,0 0,-1 0,1 0,0 0,1-1,-1 1,0 0,1-1,0 1,-1-1,1 0,0 1,0-1,0 0,1 0,-1 0,0-1,1 1,-1 0,1-1,0 0,-1 1,1-1,0 0,0-1,0 1,0 0,0-1,4 1,6 0,0-1,0 0,0-1,-1 0,1-1,14-3,4-4,-1-1,0-2,-1 0,0-2,35-24,-3-3,67-58,-85 62,-2-2,-1-1,-2-2,46-67,-45 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38.08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54.10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54.84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2654 195,'-2'1,"0"-1,0 1,0 0,0 0,0 0,0-1,1 2,-1-1,-3 2,-6 5,-164 78,-202 69,-685 140,594-195,2-37,403-62,54-6,15-6,12-4,1 2,0 0,0 1,1 1,31-12,-4 0,622-265,16 36,-42 35,-546 187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55.95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577 121,'618'-23,"-271"-13,303-22,-623 56,9 1,45 2,-79-1,-1 0,0 0,0 1,1-1,-1 0,0 0,0 1,0-1,1 1,-1-1,0 1,0-1,0 1,0 0,1 0,-2 0,1-1,-1 1,0-1,0 1,1-1,-1 1,0-1,0 1,0-1,0 1,0-1,0 1,0-1,0 1,0-1,0 1,0-1,0 1,0-1,-1 0,1 1,0-1,0 1,0-1,-1 1,1 0,-4 3,0 1,0-1,0 1,0-1,-1 0,-7 4,-240 151,-24-13,141-76,46-23,-609 331,35 48,658-423,-32 24,1 1,1 2,-38 40,55-41,18-28,-1 0,1 0,0 0,0 0,0 0,0 0,-1 0,1 0,1 0,-1 0,0 1,0-1,0 0,0 0,1 0,-1 0,0 0,1-1,0 3,2 0,1 0,-1-1,1 1,0-1,0 1,0-1,0-1,0 1,0 0,1-1,-1 0,0 0,8 1,37 5,93 4,255-20,313-50,183-39,2385-359,-2938 407,-253 42,-73 10,-14-2,0 0,1 0,-1 0,0 1,0-1,0 0,0 0,0 0,0 0,0 0,0 0,0 1,0-1,0 0,0 0,0 0,0 0,0 0,0 0,0 1,0-1,0 0,0 0,0 0,0 0,0 0,0 0,0 1,0-1,0 0,0 0,0 0,-1 0,1 0,0 0,0 0,0 1,0-1,0 0,0 0,0 0,0 0,-1 0,1 0,0 0,0 0,0 0,0 0,0 0,-1 0,-27 13,0-2,-31 9,-236 70,-156 41,-113 29,-1729 443,1901-516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7T08:28:57.84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0,'7'1,"0"1,0-1,-1 2,1-1,-1 0,0 1,1 1,-1-1,-1 1,1 0,0 0,-1 0,0 1,7 7,4 15,-1 0,-1 1,17 49,-19-46,126 436,-134-453,32 152,-20-83,48 141,-7-77,80 143,-19-48,-98-206,-3-5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C928-0379-4C66-BCB0-70C11F07A47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E2173-0F28-4FA3-9FB7-9CABF64A3B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2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E2173-0F28-4FA3-9FB7-9CABF64A3B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577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E2173-0F28-4FA3-9FB7-9CABF64A3BA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5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A803-4C5F-DEC3-28DB-E70F773FD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62A85-E6DC-B7DF-C52C-149011CF4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F595-ADCF-8963-A354-CEE4F149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38B4-6679-304D-CD42-C85C4A13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8841-B1E8-77E5-9803-5A09579F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3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5150-31D2-3EF7-0240-0E3AB3F0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EDBD-5004-6AC5-A37A-D586AB23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32E46-50EB-9FDF-1127-5AAA67E9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FD3E8-D714-BC0B-9A38-4B0B4625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9B3DF-0AC1-5D90-C723-00BDB483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117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BA24-712F-2429-1181-67124210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42CD-F940-6EAA-0EDF-31B60CD0A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9DA46-8A74-DF50-6E15-45E45960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21A8-71FA-D863-F379-30C6532B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3E3BD-6FB3-DEA4-3BB2-36BA83C8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32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8754-1749-061D-4C43-476ABC0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972B-779E-DDA8-3110-CD723A342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32FE1-F210-3EAE-0EC0-594C0E075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08786-DC7C-9959-80F3-B60121D6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F4C88-AA9B-57D4-BC86-BFBC66B8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4370A-AE4C-6758-9658-0C2D4F50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09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0F7F-0DDB-927D-90AF-1FBD3D95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3E7E3-60F8-8D01-241B-B535A8D09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94F46-A6D6-9D01-A4E7-04F8CC72D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0F32F-A37D-42E9-5D50-7AA6BE7A3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42B6D-5C0C-02A0-2992-8EDDD2CF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0F5335-008E-CF15-B120-AC71621A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DC921-D437-FC33-E449-CE387223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E7E9E-2EBB-4A16-D0AF-5713D01F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87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BB28-8BCE-8D93-0D72-9175BF0A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748A1-7306-10D5-C89C-C5831BF3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A637A-81C1-A0F4-06CD-8A4BABF4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9070A-7BFC-3B0D-138D-D45CC3B4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8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B625B-E83A-95C6-2E47-211647D9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21680-93A8-BCFF-4125-5371E96E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72EF9-5A85-56C7-98C4-EAF019B4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32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2A1D-3EBF-1DF9-AE13-2C0470C5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5981-4C27-F00B-3546-AC4E82B74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7634F-299B-4307-E598-7F73C3BC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8AE9A-0915-076E-193B-15AB6EA2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8792-4FFC-2755-0C3A-D20FA006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69D7-0EB9-1FE1-7C8A-27FE0EF8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04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3B9B-A471-029A-4B6A-C3DC2878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C9863-194F-D5C6-3A4A-13C6294BB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9ED9C-F941-1C9D-0830-8B8DA2A70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D2350-6409-82CA-A007-116FB8D1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B44FF-6233-8077-5CE6-B4162E55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5AFE-B047-2F8B-6B12-DE49657B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31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DD3E-DCFC-DF1F-EA3B-3D199F11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33164-7C4F-236B-FECB-C28FA7442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C82CA-3347-3458-4423-8F02256C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108D-5B3A-9B3E-30C7-1B5E6DC4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2ADE7-B296-6360-9097-E5E183CB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0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85972-2A81-F8EC-4736-1B78D5250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981EF-D3DC-DBED-4E5C-98C88F2A1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02DC1-BE48-D99F-AB80-C5FE4B75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4C7E5-DA11-E4CA-5F5E-FD4E9103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302B9-DBFC-9F84-0F3B-328E3455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556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BC2E0-40D2-2865-74C3-9C8E27F0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8FD38-D233-1C19-09E4-E00E11F03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34B94-794A-C283-CBD5-9615AA188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A0C79-BD24-4F2D-9DF3-CB94BD970414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140D-509A-6F0B-1707-D86FC4772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89C0F-0329-0CA2-0973-14D7E0BE3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5F4A4-B65D-4572-83C0-2C3BDA7FE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7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image" Target="../media/image2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7294B5-9016-6E9A-DB2A-EDA2E6642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63" y="868555"/>
            <a:ext cx="9920541" cy="5120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631D8F-0B96-2705-B13B-2AB4D11B3FD1}"/>
              </a:ext>
            </a:extLst>
          </p:cNvPr>
          <p:cNvSpPr/>
          <p:nvPr/>
        </p:nvSpPr>
        <p:spPr>
          <a:xfrm>
            <a:off x="5293453" y="2567031"/>
            <a:ext cx="1753299" cy="285226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5C125-5D49-CF96-E6AC-29DF9A7C41EA}"/>
              </a:ext>
            </a:extLst>
          </p:cNvPr>
          <p:cNvSpPr/>
          <p:nvPr/>
        </p:nvSpPr>
        <p:spPr>
          <a:xfrm>
            <a:off x="4834156" y="5575183"/>
            <a:ext cx="2523688" cy="285226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54F32-E491-4CF0-497D-7E2D886E6FF1}"/>
              </a:ext>
            </a:extLst>
          </p:cNvPr>
          <p:cNvSpPr txBox="1"/>
          <p:nvPr/>
        </p:nvSpPr>
        <p:spPr>
          <a:xfrm>
            <a:off x="3137483" y="2333833"/>
            <a:ext cx="731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                     TOPIC - Handover Optimization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FC6F21-D568-EF4A-23CD-F6C090103AB4}"/>
              </a:ext>
            </a:extLst>
          </p:cNvPr>
          <p:cNvSpPr/>
          <p:nvPr/>
        </p:nvSpPr>
        <p:spPr>
          <a:xfrm>
            <a:off x="2508308" y="5509469"/>
            <a:ext cx="503340" cy="2083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1B29A-446A-03D5-8DB9-6D9D8AAE0370}"/>
              </a:ext>
            </a:extLst>
          </p:cNvPr>
          <p:cNvSpPr txBox="1"/>
          <p:nvPr/>
        </p:nvSpPr>
        <p:spPr>
          <a:xfrm>
            <a:off x="2469512" y="5468922"/>
            <a:ext cx="1604390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50" dirty="0"/>
              <a:t> Neethu Sajeev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F33E9-C07A-8F4A-7EA6-33FADF9337F3}"/>
              </a:ext>
            </a:extLst>
          </p:cNvPr>
          <p:cNvSpPr/>
          <p:nvPr/>
        </p:nvSpPr>
        <p:spPr>
          <a:xfrm>
            <a:off x="1442906" y="5226341"/>
            <a:ext cx="2382474" cy="242581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98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5D580C-96C9-815C-B95B-53BB0B8E07FB}"/>
              </a:ext>
            </a:extLst>
          </p:cNvPr>
          <p:cNvSpPr txBox="1"/>
          <p:nvPr/>
        </p:nvSpPr>
        <p:spPr>
          <a:xfrm>
            <a:off x="268448" y="260059"/>
            <a:ext cx="122059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Objective</a:t>
            </a:r>
          </a:p>
          <a:p>
            <a:pPr>
              <a:buNone/>
            </a:pPr>
            <a:r>
              <a:rPr lang="en-IN" dirty="0"/>
              <a:t>The objective of this work was to install and configure </a:t>
            </a:r>
            <a:r>
              <a:rPr lang="en-IN" b="1" dirty="0"/>
              <a:t>Open5GS</a:t>
            </a:r>
            <a:r>
              <a:rPr lang="en-IN" dirty="0"/>
              <a:t> on a </a:t>
            </a:r>
            <a:r>
              <a:rPr lang="en-IN" b="1" dirty="0"/>
              <a:t>Raspberry Pi 4</a:t>
            </a:r>
            <a:r>
              <a:rPr lang="en-IN" dirty="0"/>
              <a:t> and verify whether it could communicate with </a:t>
            </a:r>
            <a:r>
              <a:rPr lang="en-IN" b="1" dirty="0"/>
              <a:t>Simu5G</a:t>
            </a:r>
            <a:r>
              <a:rPr lang="en-IN" dirty="0"/>
              <a:t> installed on the institute's Ubuntu PC.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09D413-E7D4-BBFB-575E-B22D41CBF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41" y="1558284"/>
            <a:ext cx="9502816" cy="47082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E0FF24-2DD5-38B5-231A-D4343F9C0FBA}"/>
                  </a:ext>
                </a:extLst>
              </p14:cNvPr>
              <p14:cNvContentPartPr/>
              <p14:nvPr/>
            </p14:nvContentPartPr>
            <p14:xfrm>
              <a:off x="3120378" y="1495932"/>
              <a:ext cx="583200" cy="14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E0FF24-2DD5-38B5-231A-D4343F9C0F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6738" y="1388292"/>
                <a:ext cx="6908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73AF1C-A231-FFA8-1BCE-C1F98FB7A7E4}"/>
                  </a:ext>
                </a:extLst>
              </p14:cNvPr>
              <p14:cNvContentPartPr/>
              <p14:nvPr/>
            </p14:nvContentPartPr>
            <p14:xfrm>
              <a:off x="3506298" y="1476132"/>
              <a:ext cx="193320" cy="17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73AF1C-A231-FFA8-1BCE-C1F98FB7A7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2298" y="1368492"/>
                <a:ext cx="3009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9B750F4-6D54-0C91-E241-7C6600122A7A}"/>
                  </a:ext>
                </a:extLst>
              </p14:cNvPr>
              <p14:cNvContentPartPr/>
              <p14:nvPr/>
            </p14:nvContentPartPr>
            <p14:xfrm>
              <a:off x="3120378" y="1459572"/>
              <a:ext cx="612000" cy="956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9B750F4-6D54-0C91-E241-7C6600122A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66738" y="1351572"/>
                <a:ext cx="71964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B9EEFA-6D1E-9442-5E94-AE55C38CE43D}"/>
                  </a:ext>
                </a:extLst>
              </p14:cNvPr>
              <p14:cNvContentPartPr/>
              <p14:nvPr/>
            </p14:nvContentPartPr>
            <p14:xfrm>
              <a:off x="9496338" y="2055012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B9EEFA-6D1E-9442-5E94-AE55C38CE4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42338" y="19473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7DD70B-2FAF-BFAE-B583-C0206996E852}"/>
                  </a:ext>
                </a:extLst>
              </p14:cNvPr>
              <p14:cNvContentPartPr/>
              <p14:nvPr/>
            </p14:nvContentPartPr>
            <p14:xfrm>
              <a:off x="4143858" y="1065372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7DD70B-2FAF-BFAE-B583-C0206996E8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90218" y="9573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741F448-E01B-7249-FB47-C4F4D907A579}"/>
                  </a:ext>
                </a:extLst>
              </p14:cNvPr>
              <p14:cNvContentPartPr/>
              <p14:nvPr/>
            </p14:nvContentPartPr>
            <p14:xfrm>
              <a:off x="3574698" y="751812"/>
              <a:ext cx="955440" cy="329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741F448-E01B-7249-FB47-C4F4D907A5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21058" y="644172"/>
                <a:ext cx="106308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77FC49-E9B3-5381-F49A-38E5AD9093D2}"/>
                  </a:ext>
                </a:extLst>
              </p14:cNvPr>
              <p14:cNvContentPartPr/>
              <p14:nvPr/>
            </p14:nvContentPartPr>
            <p14:xfrm>
              <a:off x="3172938" y="1583772"/>
              <a:ext cx="2152440" cy="712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77FC49-E9B3-5381-F49A-38E5AD9093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18938" y="1476132"/>
                <a:ext cx="2260080" cy="9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D67A14B-7B85-4489-5DAB-F2046ACD77CA}"/>
                  </a:ext>
                </a:extLst>
              </p14:cNvPr>
              <p14:cNvContentPartPr/>
              <p14:nvPr/>
            </p14:nvContentPartPr>
            <p14:xfrm>
              <a:off x="-50502" y="2256612"/>
              <a:ext cx="285840" cy="700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D67A14B-7B85-4489-5DAB-F2046ACD77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104502" y="2148612"/>
                <a:ext cx="393480" cy="9158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9AB2B6E-F628-F61F-6415-A42E71F36533}"/>
              </a:ext>
            </a:extLst>
          </p:cNvPr>
          <p:cNvSpPr/>
          <p:nvPr/>
        </p:nvSpPr>
        <p:spPr>
          <a:xfrm>
            <a:off x="3003259" y="1476132"/>
            <a:ext cx="5872293" cy="199010"/>
          </a:xfrm>
          <a:prstGeom prst="rect">
            <a:avLst/>
          </a:prstGeom>
          <a:solidFill>
            <a:srgbClr val="FCFCFC"/>
          </a:solidFill>
          <a:ln>
            <a:solidFill>
              <a:srgbClr val="FD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7BF58-4D08-A136-A525-EA69219A7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6" y="299747"/>
            <a:ext cx="7148179" cy="36579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0F342B-5A30-AE47-4A03-51D34FC18CC9}"/>
              </a:ext>
            </a:extLst>
          </p:cNvPr>
          <p:cNvSpPr/>
          <p:nvPr/>
        </p:nvSpPr>
        <p:spPr>
          <a:xfrm>
            <a:off x="5712903" y="3850547"/>
            <a:ext cx="1635853" cy="142613"/>
          </a:xfrm>
          <a:prstGeom prst="rect">
            <a:avLst/>
          </a:prstGeom>
          <a:solidFill>
            <a:srgbClr val="FEFEFE"/>
          </a:solidFill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E272F-3697-C509-74A8-96A07889B316}"/>
              </a:ext>
            </a:extLst>
          </p:cNvPr>
          <p:cNvSpPr txBox="1"/>
          <p:nvPr/>
        </p:nvSpPr>
        <p:spPr>
          <a:xfrm>
            <a:off x="7734649" y="532794"/>
            <a:ext cx="40746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Network Configuration Issues</a:t>
            </a:r>
            <a:r>
              <a:rPr lang="en-IN" dirty="0"/>
              <a:t> Configuring static IP addresses, Ethernet settings, and establishing communication between the institute PC and Raspberry Pi.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Connectivity Issues</a:t>
            </a:r>
            <a:r>
              <a:rPr lang="en-IN" dirty="0"/>
              <a:t> Troubleshooting SSH access, Raspberry Pi IP discovery, network reachability, and communication between devices.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0966A-C627-3E83-0EBC-5FDA4278B995}"/>
              </a:ext>
            </a:extLst>
          </p:cNvPr>
          <p:cNvSpPr txBox="1"/>
          <p:nvPr/>
        </p:nvSpPr>
        <p:spPr>
          <a:xfrm>
            <a:off x="598415" y="4664279"/>
            <a:ext cx="115320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Dependency and Service Management</a:t>
            </a:r>
            <a:r>
              <a:rPr lang="en-IN" dirty="0"/>
              <a:t> Resolving software dependencies, configuring MongoDB, verifying Open5GS services, and troubleshooting </a:t>
            </a:r>
            <a:r>
              <a:rPr lang="en-IN" dirty="0" err="1"/>
              <a:t>WebUI</a:t>
            </a:r>
            <a:r>
              <a:rPr lang="en-IN" dirty="0"/>
              <a:t> accessibility.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Architecture Compatibility</a:t>
            </a:r>
            <a:r>
              <a:rPr lang="en-IN" dirty="0"/>
              <a:t> Identifying that direct communication between Simu5G and Open5GS is not supported because Simu5G does not implement the external 3GPP N2 (NGAP over SCTP) and N3 (GTP-U) interfaces required by Open5GS.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37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94AD0-4D1E-F9C4-C86A-ED2F037A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2" y="121337"/>
            <a:ext cx="5740315" cy="3888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7282C-6079-B122-FE7C-83463AF4DC7E}"/>
              </a:ext>
            </a:extLst>
          </p:cNvPr>
          <p:cNvSpPr txBox="1"/>
          <p:nvPr/>
        </p:nvSpPr>
        <p:spPr>
          <a:xfrm>
            <a:off x="65287" y="4051993"/>
            <a:ext cx="57403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LIM² (Learning-based Intelligent Mobility Management)</a:t>
            </a:r>
            <a:r>
              <a:rPr lang="en-IN" sz="1200" dirty="0"/>
              <a:t> uses a </a:t>
            </a:r>
            <a:r>
              <a:rPr lang="en-IN" sz="1200" b="1" dirty="0"/>
              <a:t>Kalman Filter</a:t>
            </a:r>
            <a:r>
              <a:rPr lang="en-IN" sz="1200" dirty="0"/>
              <a:t> to predict the future </a:t>
            </a:r>
            <a:r>
              <a:rPr lang="en-IN" sz="1200" b="1" dirty="0"/>
              <a:t>Reference Signal Received Power (RSRP)</a:t>
            </a:r>
            <a:r>
              <a:rPr lang="en-IN" sz="1200" dirty="0"/>
              <a:t> of the serving and </a:t>
            </a:r>
            <a:r>
              <a:rPr lang="en-IN" sz="1200" dirty="0" err="1"/>
              <a:t>neighboring</a:t>
            </a:r>
            <a:r>
              <a:rPr lang="en-IN" sz="1200" dirty="0"/>
              <a:t> cells by filtering measurement noise, enabling more accurate signal quality</a:t>
            </a:r>
          </a:p>
          <a:p>
            <a:endParaRPr lang="en-IN" sz="1200" dirty="0"/>
          </a:p>
          <a:p>
            <a:r>
              <a:rPr lang="en-IN" sz="1200" dirty="0"/>
              <a:t>It then employs </a:t>
            </a:r>
            <a:r>
              <a:rPr lang="en-IN" sz="1200" b="1" dirty="0"/>
              <a:t>SARSA (State–Action–Reward–State–Action) Reinforcement Learning</a:t>
            </a:r>
            <a:r>
              <a:rPr lang="en-IN" sz="1200" dirty="0"/>
              <a:t> to intelligently select the best target cell based on the predicted RSRP and </a:t>
            </a:r>
            <a:r>
              <a:rPr lang="en-IN" sz="1200" b="1" dirty="0"/>
              <a:t>Reference Signal Received Quality (RSRQ)</a:t>
            </a:r>
            <a:r>
              <a:rPr lang="en-IN" sz="1200" dirty="0"/>
              <a:t>, continuously learning from previous handover decisions to maximize network performance. </a:t>
            </a:r>
          </a:p>
          <a:p>
            <a:endParaRPr lang="en-IN" sz="1200" dirty="0"/>
          </a:p>
          <a:p>
            <a:r>
              <a:rPr lang="en-IN" sz="1200" dirty="0"/>
              <a:t>Finally, an </a:t>
            </a:r>
            <a:r>
              <a:rPr lang="en-IN" sz="1200" b="1" dirty="0"/>
              <a:t>ε-greedy policy</a:t>
            </a:r>
            <a:r>
              <a:rPr lang="en-IN" sz="1200" dirty="0"/>
              <a:t> dynamically adjusts the </a:t>
            </a:r>
            <a:r>
              <a:rPr lang="en-IN" sz="1200" b="1" dirty="0"/>
              <a:t>Time-to-Trigger (TTT)</a:t>
            </a:r>
            <a:r>
              <a:rPr lang="en-IN" sz="1200" dirty="0"/>
              <a:t> and </a:t>
            </a:r>
            <a:r>
              <a:rPr lang="en-IN" sz="1200" b="1" dirty="0"/>
              <a:t>Hysteresis Margin</a:t>
            </a:r>
            <a:r>
              <a:rPr lang="en-IN" sz="1200" dirty="0"/>
              <a:t>, balancing exploration of new parameter values and exploitation of the best-performing values to reduce handover delay, failures, and ping-pong effects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243F88-AC4F-AE19-1185-C8898050C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337"/>
            <a:ext cx="5846871" cy="37711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81B1CE-02EA-F7FD-A26D-7A6D04A974E9}"/>
              </a:ext>
            </a:extLst>
          </p:cNvPr>
          <p:cNvSpPr txBox="1"/>
          <p:nvPr/>
        </p:nvSpPr>
        <p:spPr>
          <a:xfrm>
            <a:off x="6096000" y="4118994"/>
            <a:ext cx="5883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Improved CRITIC-TOPSIS</a:t>
            </a:r>
            <a:r>
              <a:rPr lang="en-IN" sz="1200" dirty="0"/>
              <a:t> performs multi-attribute handover decisions using </a:t>
            </a:r>
            <a:r>
              <a:rPr lang="en-IN" sz="1200" b="1" dirty="0"/>
              <a:t>RSRP, RSRQ, and co-frequency interference</a:t>
            </a:r>
            <a:r>
              <a:rPr lang="en-IN" sz="1200" dirty="0"/>
              <a:t>, assigning objective weights to each parameter. </a:t>
            </a:r>
          </a:p>
          <a:p>
            <a:endParaRPr lang="en-IN" sz="1200" dirty="0"/>
          </a:p>
          <a:p>
            <a:r>
              <a:rPr lang="en-IN" sz="1200" b="1" dirty="0"/>
              <a:t>Prospect Theory</a:t>
            </a:r>
            <a:r>
              <a:rPr lang="en-IN" sz="1200" dirty="0"/>
              <a:t> evaluates handover risk based on </a:t>
            </a:r>
            <a:r>
              <a:rPr lang="en-IN" sz="1200" b="1" dirty="0"/>
              <a:t>ping-pong rate, handover failure rate, SNR, and BER</a:t>
            </a:r>
            <a:r>
              <a:rPr lang="en-IN" sz="1200" dirty="0"/>
              <a:t> to identify the safest handover position. </a:t>
            </a:r>
          </a:p>
          <a:p>
            <a:endParaRPr lang="en-IN" sz="1200" dirty="0"/>
          </a:p>
          <a:p>
            <a:r>
              <a:rPr lang="en-IN" sz="1200" dirty="0"/>
              <a:t>The algorithm combines the </a:t>
            </a:r>
            <a:r>
              <a:rPr lang="en-IN" sz="1200" b="1" dirty="0"/>
              <a:t>TOPSIS score</a:t>
            </a:r>
            <a:r>
              <a:rPr lang="en-IN" sz="1200" dirty="0"/>
              <a:t> and </a:t>
            </a:r>
            <a:r>
              <a:rPr lang="en-IN" sz="1200" b="1" dirty="0"/>
              <a:t>Prospect Theory utility</a:t>
            </a:r>
            <a:r>
              <a:rPr lang="en-IN" sz="1200" dirty="0"/>
              <a:t> to recommend the optimal handover position, achieving a </a:t>
            </a:r>
            <a:r>
              <a:rPr lang="en-IN" sz="1200" b="1" dirty="0"/>
              <a:t>handover success rate above 99.5%</a:t>
            </a:r>
            <a:r>
              <a:rPr lang="en-IN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1613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2E4933-3065-E76D-491B-C38A1E8D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7" y="371578"/>
            <a:ext cx="5907212" cy="3666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9D4934-A38B-F0EF-9713-5692A42AE63B}"/>
              </a:ext>
            </a:extLst>
          </p:cNvPr>
          <p:cNvSpPr txBox="1"/>
          <p:nvPr/>
        </p:nvSpPr>
        <p:spPr>
          <a:xfrm>
            <a:off x="176169" y="4446165"/>
            <a:ext cx="60050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proposed scheme combines </a:t>
            </a:r>
            <a:r>
              <a:rPr lang="en-IN" sz="1200" b="1" dirty="0" err="1"/>
              <a:t>CoMP</a:t>
            </a:r>
            <a:r>
              <a:rPr lang="en-IN" sz="1200" b="1" dirty="0"/>
              <a:t> (Coordinated Multi-Point)</a:t>
            </a:r>
            <a:r>
              <a:rPr lang="en-IN" sz="1200" dirty="0"/>
              <a:t> and </a:t>
            </a:r>
            <a:r>
              <a:rPr lang="en-IN" sz="1200" b="1" dirty="0"/>
              <a:t>Bi-Casting</a:t>
            </a:r>
            <a:r>
              <a:rPr lang="en-IN" sz="1200" dirty="0"/>
              <a:t> to achieve </a:t>
            </a:r>
            <a:r>
              <a:rPr lang="en-IN" sz="1200" b="1" dirty="0"/>
              <a:t>soft handover</a:t>
            </a:r>
            <a:r>
              <a:rPr lang="en-IN" sz="1200" dirty="0"/>
              <a:t>, allowing the train to maintain simultaneous connections with both the serving and target </a:t>
            </a:r>
            <a:r>
              <a:rPr lang="en-IN" sz="1200" dirty="0" err="1"/>
              <a:t>eNBs</a:t>
            </a:r>
            <a:r>
              <a:rPr lang="en-IN" sz="1200" dirty="0"/>
              <a:t>.</a:t>
            </a:r>
          </a:p>
          <a:p>
            <a:endParaRPr lang="en-IN" sz="1200" dirty="0"/>
          </a:p>
          <a:p>
            <a:r>
              <a:rPr lang="en-IN" sz="1200" dirty="0"/>
              <a:t> </a:t>
            </a:r>
            <a:r>
              <a:rPr lang="en-IN" sz="1200" b="1" dirty="0" err="1"/>
              <a:t>CoMP</a:t>
            </a:r>
            <a:r>
              <a:rPr lang="en-IN" sz="1200" b="1" dirty="0"/>
              <a:t> Joint Transmission (JT)</a:t>
            </a:r>
            <a:r>
              <a:rPr lang="en-IN" sz="1200" dirty="0"/>
              <a:t> improves signal quality by transmitting identical data from multiple </a:t>
            </a:r>
            <a:r>
              <a:rPr lang="en-IN" sz="1200" dirty="0" err="1"/>
              <a:t>eNBs</a:t>
            </a:r>
            <a:r>
              <a:rPr lang="en-IN" sz="1200" dirty="0"/>
              <a:t>, while </a:t>
            </a:r>
            <a:r>
              <a:rPr lang="en-IN" sz="1200" b="1" dirty="0"/>
              <a:t>Bi-Casting</a:t>
            </a:r>
            <a:r>
              <a:rPr lang="en-IN" sz="1200" dirty="0"/>
              <a:t> duplicates user packets from the Serving Gateway (SGW) to both </a:t>
            </a:r>
            <a:r>
              <a:rPr lang="en-IN" sz="1200" dirty="0" err="1"/>
              <a:t>eNBs</a:t>
            </a:r>
            <a:r>
              <a:rPr lang="en-IN" sz="1200" dirty="0"/>
              <a:t>, eliminating packet loss during handover.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29CDF-DF71-C2AE-4ACD-E92A591A746B}"/>
              </a:ext>
            </a:extLst>
          </p:cNvPr>
          <p:cNvSpPr txBox="1"/>
          <p:nvPr/>
        </p:nvSpPr>
        <p:spPr>
          <a:xfrm>
            <a:off x="6518247" y="4446165"/>
            <a:ext cx="5100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proposed scheme uses </a:t>
            </a:r>
            <a:r>
              <a:rPr lang="en-IN" sz="1200" b="1" dirty="0"/>
              <a:t>adaptive beamforming</a:t>
            </a:r>
            <a:r>
              <a:rPr lang="en-IN" sz="1200" dirty="0"/>
              <a:t>, where the serving and target </a:t>
            </a:r>
            <a:r>
              <a:rPr lang="en-IN" sz="1200" b="1" dirty="0" err="1"/>
              <a:t>eNodeBs</a:t>
            </a:r>
            <a:r>
              <a:rPr lang="en-IN" sz="1200" b="1" dirty="0"/>
              <a:t> dynamically adjust their beamforming gains</a:t>
            </a:r>
            <a:r>
              <a:rPr lang="en-IN" sz="1200" dirty="0"/>
              <a:t> to improve signal quality when the train enters the overlapping region.</a:t>
            </a:r>
          </a:p>
          <a:p>
            <a:endParaRPr lang="en-IN" sz="1200" dirty="0"/>
          </a:p>
          <a:p>
            <a:r>
              <a:rPr lang="en-IN" sz="1200" dirty="0"/>
              <a:t> A </a:t>
            </a:r>
            <a:r>
              <a:rPr lang="en-IN" sz="1200" b="1" dirty="0"/>
              <a:t>joint RSRP–RSRQ handover algorithm</a:t>
            </a:r>
            <a:r>
              <a:rPr lang="en-IN" sz="1200" dirty="0"/>
              <a:t> dynamically adjusts the </a:t>
            </a:r>
            <a:r>
              <a:rPr lang="en-IN" sz="1200" b="1" dirty="0"/>
              <a:t>hysteresis margins</a:t>
            </a:r>
            <a:r>
              <a:rPr lang="en-IN" sz="1200" dirty="0"/>
              <a:t> based on the </a:t>
            </a:r>
            <a:r>
              <a:rPr lang="en-IN" sz="1200" b="1" dirty="0"/>
              <a:t>train's speed and position</a:t>
            </a:r>
            <a:r>
              <a:rPr lang="en-IN" sz="1200" dirty="0"/>
              <a:t>, enabling earlier and more reliable handover while reducing unnecessary handovers. </a:t>
            </a:r>
          </a:p>
          <a:p>
            <a:endParaRPr lang="en-IN" sz="1200" dirty="0"/>
          </a:p>
          <a:p>
            <a:r>
              <a:rPr lang="en-IN" sz="1200" dirty="0"/>
              <a:t>By combining </a:t>
            </a:r>
            <a:r>
              <a:rPr lang="en-IN" sz="1200" b="1" dirty="0"/>
              <a:t>beamforming</a:t>
            </a:r>
            <a:r>
              <a:rPr lang="en-IN" sz="1200" dirty="0"/>
              <a:t> with </a:t>
            </a:r>
            <a:r>
              <a:rPr lang="en-IN" sz="1200" b="1" dirty="0"/>
              <a:t>adaptive hysteresis control</a:t>
            </a:r>
            <a:r>
              <a:rPr lang="en-IN" sz="1200" dirty="0"/>
              <a:t>, the algorithm significantly improves </a:t>
            </a:r>
            <a:r>
              <a:rPr lang="en-IN" sz="1200" b="1" dirty="0"/>
              <a:t>handover trigger probability</a:t>
            </a:r>
            <a:r>
              <a:rPr lang="en-IN" sz="1200" dirty="0"/>
              <a:t> and achieves a </a:t>
            </a:r>
            <a:r>
              <a:rPr lang="en-IN" sz="1200" b="1" dirty="0"/>
              <a:t>handover success rate of 97.9%</a:t>
            </a:r>
            <a:r>
              <a:rPr lang="en-IN" sz="1200" dirty="0"/>
              <a:t>, outperforming traditional and BPA handover schemes.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E0565D-802C-C8A4-97DC-48EAACC1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186" y="438833"/>
            <a:ext cx="5736397" cy="38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5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94E6E-F06F-1FBB-9784-87428F50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" y="189673"/>
            <a:ext cx="5911442" cy="364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142610-56A0-DC8D-6079-BED0FDB25043}"/>
              </a:ext>
            </a:extLst>
          </p:cNvPr>
          <p:cNvSpPr txBox="1"/>
          <p:nvPr/>
        </p:nvSpPr>
        <p:spPr>
          <a:xfrm>
            <a:off x="184558" y="4118994"/>
            <a:ext cx="59114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Data Envelopment Analysis (DEA)</a:t>
            </a:r>
            <a:r>
              <a:rPr lang="en-IN" sz="1100" dirty="0"/>
              <a:t> is a mathematical decision-making technique that evaluates the relative efficiency of multiple systems (called Decision Making Units - DMUs) by comparing their inputs and outputs.</a:t>
            </a:r>
          </a:p>
          <a:p>
            <a:endParaRPr lang="en-IN" sz="1100" dirty="0"/>
          </a:p>
          <a:p>
            <a:r>
              <a:rPr lang="en-IN" sz="1100" dirty="0"/>
              <a:t> In this paper, the </a:t>
            </a:r>
            <a:r>
              <a:rPr lang="en-IN" sz="1100" b="1" dirty="0"/>
              <a:t>six handover models</a:t>
            </a:r>
            <a:r>
              <a:rPr lang="en-IN" sz="1100" dirty="0"/>
              <a:t> (Satellite, LCX, </a:t>
            </a:r>
            <a:r>
              <a:rPr lang="en-IN" sz="1100" dirty="0" err="1"/>
              <a:t>RoF</a:t>
            </a:r>
            <a:r>
              <a:rPr lang="en-IN" sz="1100" dirty="0"/>
              <a:t>, RS-assisted, SFN, and Dual-soft) are treated as </a:t>
            </a:r>
            <a:r>
              <a:rPr lang="en-IN" sz="1100" b="1" dirty="0"/>
              <a:t>DMUs</a:t>
            </a:r>
            <a:r>
              <a:rPr lang="en-IN" sz="1100" dirty="0"/>
              <a:t>, where </a:t>
            </a:r>
            <a:r>
              <a:rPr lang="en-IN" sz="1100" b="1" dirty="0"/>
              <a:t>cost, transmission power, and handover rate</a:t>
            </a:r>
            <a:r>
              <a:rPr lang="en-IN" sz="1100" dirty="0"/>
              <a:t> are considered as inputs, while </a:t>
            </a:r>
            <a:r>
              <a:rPr lang="en-IN" sz="1100" b="1" dirty="0"/>
              <a:t>bandwidth, handover delay, and handover success probability</a:t>
            </a:r>
            <a:r>
              <a:rPr lang="en-IN" sz="1100" dirty="0"/>
              <a:t> are considered as outputs. </a:t>
            </a:r>
          </a:p>
          <a:p>
            <a:endParaRPr lang="en-IN" sz="1100" dirty="0"/>
          </a:p>
          <a:p>
            <a:r>
              <a:rPr lang="en-IN" sz="1100" dirty="0"/>
              <a:t>The DEA framework computes </a:t>
            </a:r>
            <a:r>
              <a:rPr lang="en-IN" sz="1100" b="1" dirty="0"/>
              <a:t>Technical Efficiency (TE)</a:t>
            </a:r>
            <a:r>
              <a:rPr lang="en-IN" sz="1100" dirty="0"/>
              <a:t>, </a:t>
            </a:r>
            <a:r>
              <a:rPr lang="en-IN" sz="1100" b="1" dirty="0"/>
              <a:t>Allocative Efficiency (AE)</a:t>
            </a:r>
            <a:r>
              <a:rPr lang="en-IN" sz="1100" dirty="0"/>
              <a:t>, and </a:t>
            </a:r>
            <a:r>
              <a:rPr lang="en-IN" sz="1100" b="1" dirty="0"/>
              <a:t>Cost Efficiency (CE)</a:t>
            </a:r>
            <a:r>
              <a:rPr lang="en-IN" sz="1100" dirty="0"/>
              <a:t> to rank the handover models, concluding that the </a:t>
            </a:r>
            <a:r>
              <a:rPr lang="en-IN" sz="1100" b="1" dirty="0"/>
              <a:t>Radio over Fiber (</a:t>
            </a:r>
            <a:r>
              <a:rPr lang="en-IN" sz="1100" b="1" dirty="0" err="1"/>
              <a:t>RoF</a:t>
            </a:r>
            <a:r>
              <a:rPr lang="en-IN" sz="1100" b="1" dirty="0"/>
              <a:t>)</a:t>
            </a:r>
            <a:r>
              <a:rPr lang="en-IN" sz="1100" dirty="0"/>
              <a:t> model provides the best overall performance for high-speed train communications.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97C79-C6F7-9012-84F5-D358522FC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144" y="413574"/>
            <a:ext cx="5969382" cy="3196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B33211-57D4-AD12-39E2-E80CA3BD0F16}"/>
              </a:ext>
            </a:extLst>
          </p:cNvPr>
          <p:cNvSpPr txBox="1"/>
          <p:nvPr/>
        </p:nvSpPr>
        <p:spPr>
          <a:xfrm>
            <a:off x="6342077" y="4177717"/>
            <a:ext cx="5536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The algorithm adaptively adjusts the RSRP hysteresis threshold</a:t>
            </a:r>
            <a:r>
              <a:rPr lang="en-IN" sz="1200" dirty="0"/>
              <a:t> using an </a:t>
            </a:r>
            <a:r>
              <a:rPr lang="en-IN" sz="1200" b="1" dirty="0"/>
              <a:t>elliptic function</a:t>
            </a:r>
            <a:r>
              <a:rPr lang="en-IN" sz="1200" dirty="0"/>
              <a:t> based on train speed and position for timely handovers. </a:t>
            </a:r>
          </a:p>
          <a:p>
            <a:endParaRPr lang="en-IN" sz="1200" dirty="0"/>
          </a:p>
          <a:p>
            <a:r>
              <a:rPr lang="en-IN" sz="1200" dirty="0"/>
              <a:t>It uses </a:t>
            </a:r>
            <a:r>
              <a:rPr lang="en-IN" sz="1200" b="1" dirty="0"/>
              <a:t>both RSRP and RSRQ</a:t>
            </a:r>
            <a:r>
              <a:rPr lang="en-IN" sz="1200" dirty="0"/>
              <a:t> as handover decision metrics to improve decision accuracy and reliability.</a:t>
            </a:r>
          </a:p>
          <a:p>
            <a:endParaRPr lang="en-IN" sz="1200" dirty="0"/>
          </a:p>
          <a:p>
            <a:r>
              <a:rPr lang="en-IN" sz="1200" dirty="0"/>
              <a:t> A </a:t>
            </a:r>
            <a:r>
              <a:rPr lang="en-IN" sz="1200" b="1" dirty="0"/>
              <a:t>random suppression mechanism</a:t>
            </a:r>
            <a:r>
              <a:rPr lang="en-IN" sz="1200" dirty="0"/>
              <a:t> reduces </a:t>
            </a:r>
            <a:r>
              <a:rPr lang="en-IN" sz="1200" b="1" dirty="0"/>
              <a:t>ping-pong handovers</a:t>
            </a:r>
            <a:r>
              <a:rPr lang="en-IN" sz="1200" dirty="0"/>
              <a:t> while improving handover success probability.</a:t>
            </a:r>
          </a:p>
        </p:txBody>
      </p:sp>
    </p:spTree>
    <p:extLst>
      <p:ext uri="{BB962C8B-B14F-4D97-AF65-F5344CB8AC3E}">
        <p14:creationId xmlns:p14="http://schemas.microsoft.com/office/powerpoint/2010/main" val="33511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7BD2E0-C257-16D2-6866-A1A45143B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1" y="323018"/>
            <a:ext cx="5762001" cy="3762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D4F3B-99E5-7ACC-C76E-D053A4670C09}"/>
              </a:ext>
            </a:extLst>
          </p:cNvPr>
          <p:cNvSpPr txBox="1"/>
          <p:nvPr/>
        </p:nvSpPr>
        <p:spPr>
          <a:xfrm>
            <a:off x="310393" y="4404220"/>
            <a:ext cx="5486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It compares various handover architectures, including </a:t>
            </a:r>
            <a:r>
              <a:rPr lang="en-IN" sz="1200" b="1" dirty="0"/>
              <a:t>Radio-over-Fiber (</a:t>
            </a:r>
            <a:r>
              <a:rPr lang="en-IN" sz="1200" b="1" dirty="0" err="1"/>
              <a:t>RoF</a:t>
            </a:r>
            <a:r>
              <a:rPr lang="en-IN" sz="1200" b="1" dirty="0"/>
              <a:t>), Moving Cells, Relay-Assisted Handover, </a:t>
            </a:r>
            <a:r>
              <a:rPr lang="en-IN" sz="1200" b="1" dirty="0" err="1"/>
              <a:t>CoMP</a:t>
            </a:r>
            <a:r>
              <a:rPr lang="en-IN" sz="1200" b="1" dirty="0"/>
              <a:t>, Dual Handover, and Bi-Casting</a:t>
            </a:r>
            <a:r>
              <a:rPr lang="en-IN" sz="1200" dirty="0"/>
              <a:t>, based on their advantages, limitations, and performance. </a:t>
            </a:r>
          </a:p>
          <a:p>
            <a:endParaRPr lang="en-IN" sz="1200" dirty="0"/>
          </a:p>
          <a:p>
            <a:r>
              <a:rPr lang="en-IN" sz="1200" dirty="0"/>
              <a:t>The survey concludes that </a:t>
            </a:r>
            <a:r>
              <a:rPr lang="en-IN" sz="1200" b="1" dirty="0" err="1"/>
              <a:t>RoF</a:t>
            </a:r>
            <a:r>
              <a:rPr lang="en-IN" sz="1200" b="1" dirty="0"/>
              <a:t> and Moving Cell architectures are the most promising solutions</a:t>
            </a:r>
            <a:r>
              <a:rPr lang="en-IN" sz="1200" dirty="0"/>
              <a:t> for achieving seamless, reliable, and low-latency handovers in future high-speed railway networks.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7BE3A-1488-BC2F-5DD3-AB35009D9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066" y="323018"/>
            <a:ext cx="5894113" cy="37620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CCEF27-8A1B-B1DD-1FC9-116F45085CE7}"/>
              </a:ext>
            </a:extLst>
          </p:cNvPr>
          <p:cNvSpPr txBox="1"/>
          <p:nvPr/>
        </p:nvSpPr>
        <p:spPr>
          <a:xfrm>
            <a:off x="6206942" y="4404220"/>
            <a:ext cx="5763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algorithm </a:t>
            </a:r>
            <a:r>
              <a:rPr lang="en-IN" sz="1200" b="1" dirty="0"/>
              <a:t>estimates the train's speed and direction</a:t>
            </a:r>
            <a:r>
              <a:rPr lang="en-IN" sz="1200" dirty="0"/>
              <a:t>, recognizes its location, and identifies the appropriate handover chain before triggering the handover. </a:t>
            </a:r>
          </a:p>
          <a:p>
            <a:endParaRPr lang="en-IN" sz="1200" dirty="0"/>
          </a:p>
          <a:p>
            <a:r>
              <a:rPr lang="en-IN" sz="1200" dirty="0"/>
              <a:t>It </a:t>
            </a:r>
            <a:r>
              <a:rPr lang="en-IN" sz="1200" b="1" dirty="0"/>
              <a:t>calculates a weight for the target and source cells</a:t>
            </a:r>
            <a:r>
              <a:rPr lang="en-IN" sz="1200" dirty="0"/>
              <a:t> using measurement report parameters and triggers handover only when the </a:t>
            </a:r>
            <a:r>
              <a:rPr lang="en-IN" sz="1200" b="1" dirty="0"/>
              <a:t>target cell's weight exceeds the source cell's weight</a:t>
            </a:r>
            <a:r>
              <a:rPr lang="en-IN" sz="1200" dirty="0"/>
              <a:t>. </a:t>
            </a:r>
          </a:p>
          <a:p>
            <a:endParaRPr lang="en-IN" sz="1200" dirty="0"/>
          </a:p>
          <a:p>
            <a:r>
              <a:rPr lang="en-IN" sz="1200" dirty="0"/>
              <a:t>This </a:t>
            </a:r>
            <a:r>
              <a:rPr lang="en-IN" sz="1200" b="1" dirty="0"/>
              <a:t>location- and weight-based handover strategy</a:t>
            </a:r>
            <a:r>
              <a:rPr lang="en-IN" sz="1200" dirty="0"/>
              <a:t> reduces handover delay and improves the handover success rate for high-speed railway communications.</a:t>
            </a:r>
          </a:p>
        </p:txBody>
      </p:sp>
    </p:spTree>
    <p:extLst>
      <p:ext uri="{BB962C8B-B14F-4D97-AF65-F5344CB8AC3E}">
        <p14:creationId xmlns:p14="http://schemas.microsoft.com/office/powerpoint/2010/main" val="400434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CFAC9F-AF51-C079-39A3-FE983378EF6A}"/>
              </a:ext>
            </a:extLst>
          </p:cNvPr>
          <p:cNvSpPr txBox="1"/>
          <p:nvPr/>
        </p:nvSpPr>
        <p:spPr>
          <a:xfrm>
            <a:off x="453007" y="58846"/>
            <a:ext cx="1030587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Future Scope</a:t>
            </a:r>
          </a:p>
          <a:p>
            <a:endParaRPr lang="en-IN" sz="1200" b="1" dirty="0"/>
          </a:p>
          <a:p>
            <a:r>
              <a:rPr lang="en-IN" sz="1200" b="1" dirty="0"/>
              <a:t>Objective</a:t>
            </a:r>
          </a:p>
          <a:p>
            <a:r>
              <a:rPr lang="en-IN" sz="1200" dirty="0"/>
              <a:t>Develop an </a:t>
            </a:r>
            <a:r>
              <a:rPr lang="en-IN" sz="1200" b="1" dirty="0"/>
              <a:t>AI-assisted handover evaluation framework</a:t>
            </a:r>
            <a:r>
              <a:rPr lang="en-IN" sz="1200" dirty="0"/>
              <a:t> that identifies the most suitable handover algorithm for high-speed railway communication based on simulation results obtained from </a:t>
            </a:r>
            <a:r>
              <a:rPr lang="en-IN" sz="1200" b="1" dirty="0"/>
              <a:t>Simu5G</a:t>
            </a:r>
            <a:r>
              <a:rPr lang="en-IN" sz="1200" dirty="0"/>
              <a:t>.</a:t>
            </a:r>
          </a:p>
          <a:p>
            <a:endParaRPr lang="en-IN" sz="1200" dirty="0"/>
          </a:p>
          <a:p>
            <a:r>
              <a:rPr lang="en-IN" sz="1200" b="1" dirty="0"/>
              <a:t>Proposed Methodology</a:t>
            </a:r>
          </a:p>
          <a:p>
            <a:endParaRPr lang="en-IN" sz="1200" b="1" dirty="0"/>
          </a:p>
          <a:p>
            <a:r>
              <a:rPr lang="en-IN" sz="1200" b="1" dirty="0"/>
              <a:t>1. Simu5G Network Simulation</a:t>
            </a:r>
          </a:p>
          <a:p>
            <a:r>
              <a:rPr lang="en-IN" sz="1200" dirty="0"/>
              <a:t>Model a realistic </a:t>
            </a:r>
            <a:r>
              <a:rPr lang="en-IN" sz="1200" b="1" dirty="0"/>
              <a:t>5G High-Speed Railway (HSR)</a:t>
            </a:r>
            <a:r>
              <a:rPr lang="en-IN" sz="1200" dirty="0"/>
              <a:t> communication environment in Simu5G. </a:t>
            </a:r>
          </a:p>
          <a:p>
            <a:r>
              <a:rPr lang="en-IN" sz="1200" dirty="0"/>
              <a:t>Configure network scenarios using the parameters extracted from the surveyed research papers, including train speed, carrier frequency, cell radius, inter-site distance, number of </a:t>
            </a:r>
            <a:r>
              <a:rPr lang="en-IN" sz="1200" dirty="0" err="1"/>
              <a:t>gNBs</a:t>
            </a:r>
            <a:r>
              <a:rPr lang="en-IN" sz="1200" dirty="0"/>
              <a:t>, and other available simulation parameters. </a:t>
            </a:r>
          </a:p>
          <a:p>
            <a:endParaRPr lang="en-IN" sz="1200" dirty="0"/>
          </a:p>
          <a:p>
            <a:r>
              <a:rPr lang="en-IN" sz="1200" b="1" dirty="0"/>
              <a:t>2. Performance Evaluation</a:t>
            </a:r>
          </a:p>
          <a:p>
            <a:r>
              <a:rPr lang="en-IN" sz="1200" dirty="0"/>
              <a:t>Perform multiple simulation runs for different handover algorithms and collect important performance metrics, including: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Handover Delay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Handover Success 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Throughput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SINR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RSRP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RSRQ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Packet Loss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Ping-Pong Handover 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Outage Probability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Network Latency </a:t>
            </a:r>
          </a:p>
          <a:p>
            <a:endParaRPr lang="en-IN" sz="1200" dirty="0"/>
          </a:p>
          <a:p>
            <a:r>
              <a:rPr lang="en-IN" sz="1200" b="1" dirty="0"/>
              <a:t>3. Dataset Preparation</a:t>
            </a:r>
          </a:p>
          <a:p>
            <a:r>
              <a:rPr lang="en-IN" sz="1200" dirty="0"/>
              <a:t>Organize the simulation results into a structured dataset. </a:t>
            </a:r>
          </a:p>
          <a:p>
            <a:r>
              <a:rPr lang="en-IN" sz="1200" dirty="0"/>
              <a:t>Each record will represent the performance of a specific handover algorithm under different network conditions. </a:t>
            </a:r>
          </a:p>
          <a:p>
            <a:r>
              <a:rPr lang="en-IN" sz="1200" dirty="0"/>
              <a:t>The dataset will be used as the input for AI model development. </a:t>
            </a:r>
          </a:p>
          <a:p>
            <a:endParaRPr lang="en-IN" sz="1200" dirty="0"/>
          </a:p>
          <a:p>
            <a:r>
              <a:rPr lang="en-IN" sz="1200" b="1" dirty="0"/>
              <a:t>4. AI-Based Evaluation Model</a:t>
            </a:r>
          </a:p>
          <a:p>
            <a:r>
              <a:rPr lang="en-IN" sz="1200" dirty="0"/>
              <a:t>Develop a machine learning model capable of:</a:t>
            </a:r>
          </a:p>
          <a:p>
            <a:r>
              <a:rPr lang="en-IN" sz="1200" dirty="0"/>
              <a:t>Learning the relationship between network parameters and handover performance. </a:t>
            </a:r>
          </a:p>
          <a:p>
            <a:r>
              <a:rPr lang="en-IN" sz="1200" dirty="0"/>
              <a:t>Comparing the performance of different handover algorithms. </a:t>
            </a:r>
          </a:p>
          <a:p>
            <a:r>
              <a:rPr lang="en-IN" sz="1200" dirty="0"/>
              <a:t>Predicting the most suitable handover algorithm for a given railway scenario. </a:t>
            </a:r>
          </a:p>
          <a:p>
            <a:endParaRPr lang="en-IN" sz="1200" b="1" dirty="0"/>
          </a:p>
          <a:p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30435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08BFEE-7FE7-B742-7239-C4323C9A60EB}"/>
              </a:ext>
            </a:extLst>
          </p:cNvPr>
          <p:cNvSpPr txBox="1"/>
          <p:nvPr/>
        </p:nvSpPr>
        <p:spPr>
          <a:xfrm>
            <a:off x="520117" y="474345"/>
            <a:ext cx="59226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5. Intelligent Decision Support System</a:t>
            </a:r>
          </a:p>
          <a:p>
            <a:r>
              <a:rPr lang="en-IN" sz="1200" dirty="0"/>
              <a:t>The final framework will:</a:t>
            </a:r>
          </a:p>
          <a:p>
            <a:r>
              <a:rPr lang="en-IN" sz="1200" dirty="0"/>
              <a:t>Accept simulation parameters and network conditions as input. </a:t>
            </a:r>
          </a:p>
          <a:p>
            <a:r>
              <a:rPr lang="en-IN" sz="1200" dirty="0"/>
              <a:t>Evaluate multiple handover algorithms. </a:t>
            </a:r>
          </a:p>
          <a:p>
            <a:r>
              <a:rPr lang="en-IN" sz="1200" dirty="0"/>
              <a:t>Recommend the best-performing algorithm based on predicted performance. </a:t>
            </a:r>
          </a:p>
          <a:p>
            <a:r>
              <a:rPr lang="en-IN" sz="1200" dirty="0"/>
              <a:t>Assist researchers in selecting suitable handover strategies for future 5G/6G railway communication systems. </a:t>
            </a:r>
          </a:p>
          <a:p>
            <a:endParaRPr lang="en-IN" sz="1200" dirty="0"/>
          </a:p>
          <a:p>
            <a:r>
              <a:rPr lang="en-IN" sz="1200" b="1" dirty="0"/>
              <a:t>Expected Outcome</a:t>
            </a:r>
          </a:p>
          <a:p>
            <a:r>
              <a:rPr lang="en-IN" sz="1200" dirty="0"/>
              <a:t>An </a:t>
            </a:r>
            <a:r>
              <a:rPr lang="en-IN" sz="1200" b="1" dirty="0"/>
              <a:t>AI-driven handover evaluation framework</a:t>
            </a:r>
            <a:r>
              <a:rPr lang="en-IN" sz="1200" dirty="0"/>
              <a:t> that combines </a:t>
            </a:r>
            <a:r>
              <a:rPr lang="en-IN" sz="1200" b="1" dirty="0"/>
              <a:t>Simu5G simulation</a:t>
            </a:r>
            <a:r>
              <a:rPr lang="en-IN" sz="1200" dirty="0"/>
              <a:t> with </a:t>
            </a:r>
            <a:r>
              <a:rPr lang="en-IN" sz="1200" b="1" dirty="0"/>
              <a:t>machine learning</a:t>
            </a:r>
            <a:r>
              <a:rPr lang="en-IN" sz="1200" dirty="0"/>
              <a:t> to automatically </a:t>
            </a:r>
            <a:r>
              <a:rPr lang="en-IN" sz="1200" dirty="0" err="1"/>
              <a:t>analyze</a:t>
            </a:r>
            <a:r>
              <a:rPr lang="en-IN" sz="1200" dirty="0"/>
              <a:t> network performance and recommend the optimal handover algorithm for different high-speed railway scenarios.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F078B-382C-1D8D-327C-B9236ED52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165" y="729529"/>
            <a:ext cx="3308468" cy="529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5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1116</Words>
  <Application>Microsoft Office PowerPoint</Application>
  <PresentationFormat>Widescreen</PresentationFormat>
  <Paragraphs>92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Khanna</dc:creator>
  <cp:lastModifiedBy>Dhruv Khanna</cp:lastModifiedBy>
  <cp:revision>4</cp:revision>
  <dcterms:created xsi:type="dcterms:W3CDTF">2026-07-27T10:28:59Z</dcterms:created>
  <dcterms:modified xsi:type="dcterms:W3CDTF">2026-07-28T04:12:25Z</dcterms:modified>
</cp:coreProperties>
</file>